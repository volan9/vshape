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407" r:id="rId2"/>
    <p:sldId id="408" r:id="rId3"/>
    <p:sldId id="409" r:id="rId4"/>
    <p:sldId id="406" r:id="rId5"/>
  </p:sldIdLst>
  <p:sldSz cx="12801600" cy="9601200" type="A3"/>
  <p:notesSz cx="9939338" cy="6807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AE4BE"/>
    <a:srgbClr val="788F3A"/>
    <a:srgbClr val="FFCA2C"/>
    <a:srgbClr val="77D1F5"/>
    <a:srgbClr val="BFBFBF"/>
    <a:srgbClr val="F6C6D4"/>
    <a:srgbClr val="E34F79"/>
    <a:srgbClr val="E6AA00"/>
    <a:srgbClr val="B01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4068" autoAdjust="0"/>
  </p:normalViewPr>
  <p:slideViewPr>
    <p:cSldViewPr snapToGrid="0">
      <p:cViewPr>
        <p:scale>
          <a:sx n="75" d="100"/>
          <a:sy n="75" d="100"/>
        </p:scale>
        <p:origin x="15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7047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992" y="0"/>
            <a:ext cx="4307047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B547E-14D3-42A0-B1E6-E379623C4B30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38525" y="850900"/>
            <a:ext cx="306228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934" y="3275965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65659"/>
            <a:ext cx="4307047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7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D62FF-81D8-4499-BB34-896B0486B1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66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481F-4D17-4F74-231A-E6690837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C670E-1EDC-38A8-07A0-A7D1E2C5A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38525" y="850900"/>
            <a:ext cx="3062288" cy="2297113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8F6C1-850E-1099-2595-265E9580A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FFA53-413F-84F5-DCE2-738457AA3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D62FF-81D8-4499-BB34-896B0486B17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7980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818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67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83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13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40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65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924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41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24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884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33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09920-3911-4DF2-A905-B97D3EEFCD5F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CBF97-0875-46ED-8A99-5C0DCE63B2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31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5.png"/><Relationship Id="rId16" Type="http://schemas.openxmlformats.org/officeDocument/2006/relationships/image" Target="../media/image19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0E6F20-F652-E262-860F-1009109B4065}"/>
              </a:ext>
            </a:extLst>
          </p:cNvPr>
          <p:cNvSpPr/>
          <p:nvPr/>
        </p:nvSpPr>
        <p:spPr>
          <a:xfrm>
            <a:off x="3447496" y="2120370"/>
            <a:ext cx="7920000" cy="6480000"/>
          </a:xfrm>
          <a:prstGeom prst="roundRect">
            <a:avLst>
              <a:gd name="adj" fmla="val 1206"/>
            </a:avLst>
          </a:prstGeom>
          <a:noFill/>
          <a:ln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AU" sz="1600" dirty="0"/>
              <a:t>Analytics Solution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A41419-9262-7B79-DFAA-E6DD58D8002A}"/>
              </a:ext>
            </a:extLst>
          </p:cNvPr>
          <p:cNvSpPr/>
          <p:nvPr/>
        </p:nvSpPr>
        <p:spPr>
          <a:xfrm>
            <a:off x="7535719" y="5161828"/>
            <a:ext cx="1620000" cy="108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dirty="0"/>
              <a:t>V#</a:t>
            </a:r>
          </a:p>
          <a:p>
            <a:pPr algn="ctr"/>
            <a:r>
              <a:rPr lang="en-AU" sz="1600" dirty="0"/>
              <a:t>Solution Template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C93B6-1D76-C546-8EDC-CE78A668D8D0}"/>
              </a:ext>
            </a:extLst>
          </p:cNvPr>
          <p:cNvSpPr/>
          <p:nvPr/>
        </p:nvSpPr>
        <p:spPr>
          <a:xfrm>
            <a:off x="4890459" y="5161828"/>
            <a:ext cx="1620000" cy="1080000"/>
          </a:xfrm>
          <a:prstGeom prst="round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dirty="0"/>
              <a:t>Source Data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923530-31CE-CBA9-BD7F-8AF01A34A635}"/>
              </a:ext>
            </a:extLst>
          </p:cNvPr>
          <p:cNvSpPr/>
          <p:nvPr/>
        </p:nvSpPr>
        <p:spPr>
          <a:xfrm>
            <a:off x="3987496" y="7160370"/>
            <a:ext cx="6840000" cy="720000"/>
          </a:xfrm>
          <a:prstGeom prst="roundRect">
            <a:avLst>
              <a:gd name="adj" fmla="val 1217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1600" dirty="0"/>
              <a:t>Data Platform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AE76C3-F0AC-9736-43A6-52BD2894FF2C}"/>
              </a:ext>
            </a:extLst>
          </p:cNvPr>
          <p:cNvSpPr/>
          <p:nvPr/>
        </p:nvSpPr>
        <p:spPr>
          <a:xfrm>
            <a:off x="4890459" y="3001828"/>
            <a:ext cx="1620000" cy="1080000"/>
          </a:xfrm>
          <a:prstGeom prst="round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dirty="0"/>
              <a:t>Business Knowledge &amp; Rules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6D272B-B20D-DA0D-FFFB-9DE2B1A17F11}"/>
              </a:ext>
            </a:extLst>
          </p:cNvPr>
          <p:cNvSpPr/>
          <p:nvPr/>
        </p:nvSpPr>
        <p:spPr>
          <a:xfrm>
            <a:off x="7535719" y="3005971"/>
            <a:ext cx="1620000" cy="1080000"/>
          </a:xfrm>
          <a:prstGeom prst="round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dirty="0"/>
              <a:t>Data &amp; Analytics</a:t>
            </a:r>
          </a:p>
          <a:p>
            <a:pPr algn="ctr"/>
            <a:r>
              <a:rPr lang="en-AU" sz="1600" dirty="0"/>
              <a:t>Assets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75BDA9-58AA-EFA6-7FAA-EB14D919398B}"/>
              </a:ext>
            </a:extLst>
          </p:cNvPr>
          <p:cNvSpPr/>
          <p:nvPr/>
        </p:nvSpPr>
        <p:spPr>
          <a:xfrm>
            <a:off x="10068245" y="2840370"/>
            <a:ext cx="759251" cy="4320000"/>
          </a:xfrm>
          <a:prstGeom prst="roundRect">
            <a:avLst>
              <a:gd name="adj" fmla="val 1979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eaVert" rtlCol="0" anchor="ctr"/>
          <a:lstStyle/>
          <a:p>
            <a:r>
              <a:rPr lang="en-AU" sz="1600" dirty="0"/>
              <a:t>AI Capacity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5A2B3C-FF0A-BEE6-BB44-A96B1500FBC5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345719" y="4085971"/>
            <a:ext cx="0" cy="107585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1F601B-DBA4-10AA-4E6B-1721619B966B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6510459" y="5701828"/>
            <a:ext cx="1025260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C41BB7-DDB0-3010-5599-57ADC59212C7}"/>
              </a:ext>
            </a:extLst>
          </p:cNvPr>
          <p:cNvCxnSpPr>
            <a:cxnSpLocks/>
          </p:cNvCxnSpPr>
          <p:nvPr/>
        </p:nvCxnSpPr>
        <p:spPr>
          <a:xfrm flipH="1" flipV="1">
            <a:off x="6464300" y="4025900"/>
            <a:ext cx="1130300" cy="118745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ACF7AD-01C6-C2A8-77D0-4B88B76FBE8F}"/>
              </a:ext>
            </a:extLst>
          </p:cNvPr>
          <p:cNvSpPr txBox="1"/>
          <p:nvPr/>
        </p:nvSpPr>
        <p:spPr>
          <a:xfrm>
            <a:off x="8389774" y="4452551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Template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9F31BD-FCB8-49FD-E607-8A4FDA6E6DA1}"/>
              </a:ext>
            </a:extLst>
          </p:cNvPr>
          <p:cNvSpPr txBox="1"/>
          <p:nvPr/>
        </p:nvSpPr>
        <p:spPr>
          <a:xfrm>
            <a:off x="6534434" y="5996819"/>
            <a:ext cx="1047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Working</a:t>
            </a:r>
          </a:p>
          <a:p>
            <a:r>
              <a:rPr lang="en-AU" sz="1600" dirty="0"/>
              <a:t>Examples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BCA49E-9606-D158-EB2A-CADEEF8A3948}"/>
              </a:ext>
            </a:extLst>
          </p:cNvPr>
          <p:cNvSpPr txBox="1"/>
          <p:nvPr/>
        </p:nvSpPr>
        <p:spPr>
          <a:xfrm>
            <a:off x="5690216" y="4452551"/>
            <a:ext cx="11716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Framework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42F871-5956-FAFC-D094-6EF2065112E6}"/>
              </a:ext>
            </a:extLst>
          </p:cNvPr>
          <p:cNvGrpSpPr/>
          <p:nvPr/>
        </p:nvGrpSpPr>
        <p:grpSpPr>
          <a:xfrm>
            <a:off x="5002755" y="821594"/>
            <a:ext cx="4809482" cy="720000"/>
            <a:chOff x="4097160" y="1176196"/>
            <a:chExt cx="4809482" cy="720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46BC91A-2F63-647A-2D20-243323491E12}"/>
                </a:ext>
              </a:extLst>
            </p:cNvPr>
            <p:cNvGrpSpPr/>
            <p:nvPr/>
          </p:nvGrpSpPr>
          <p:grpSpPr>
            <a:xfrm>
              <a:off x="4097160" y="1176196"/>
              <a:ext cx="1934379" cy="720000"/>
              <a:chOff x="454537" y="405597"/>
              <a:chExt cx="1934379" cy="720000"/>
            </a:xfrm>
          </p:grpSpPr>
          <p:pic>
            <p:nvPicPr>
              <p:cNvPr id="33" name="Graphic 32" descr="User with solid fill">
                <a:extLst>
                  <a:ext uri="{FF2B5EF4-FFF2-40B4-BE49-F238E27FC236}">
                    <a16:creationId xmlns:a16="http://schemas.microsoft.com/office/drawing/2014/main" id="{9113A56C-3A37-F64D-B6F9-B2524E5B08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54537" y="405597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74314B-8169-4BAE-C68B-FFF65EE17FF9}"/>
                  </a:ext>
                </a:extLst>
              </p:cNvPr>
              <p:cNvSpPr txBox="1"/>
              <p:nvPr/>
            </p:nvSpPr>
            <p:spPr>
              <a:xfrm>
                <a:off x="1140817" y="473210"/>
                <a:ext cx="1248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dirty="0"/>
                  <a:t>Business</a:t>
                </a:r>
              </a:p>
              <a:p>
                <a:r>
                  <a:rPr lang="en-AU" sz="1600" dirty="0"/>
                  <a:t>Stakeholder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AE07FB4-C56D-A3B3-B209-8D339C1B3ED8}"/>
                </a:ext>
              </a:extLst>
            </p:cNvPr>
            <p:cNvGrpSpPr/>
            <p:nvPr/>
          </p:nvGrpSpPr>
          <p:grpSpPr>
            <a:xfrm>
              <a:off x="7384107" y="1176196"/>
              <a:ext cx="1522535" cy="720000"/>
              <a:chOff x="454537" y="1345001"/>
              <a:chExt cx="1522535" cy="720000"/>
            </a:xfrm>
          </p:grpSpPr>
          <p:pic>
            <p:nvPicPr>
              <p:cNvPr id="34" name="Graphic 33" descr="User with solid fill">
                <a:extLst>
                  <a:ext uri="{FF2B5EF4-FFF2-40B4-BE49-F238E27FC236}">
                    <a16:creationId xmlns:a16="http://schemas.microsoft.com/office/drawing/2014/main" id="{A205BA18-F410-426E-BF77-5B58D608A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54537" y="1345001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FEAEBC2-CE30-DE28-5638-4E578EB7AD2F}"/>
                  </a:ext>
                </a:extLst>
              </p:cNvPr>
              <p:cNvSpPr txBox="1"/>
              <p:nvPr/>
            </p:nvSpPr>
            <p:spPr>
              <a:xfrm>
                <a:off x="1140817" y="1412614"/>
                <a:ext cx="8362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dirty="0"/>
                  <a:t>Data</a:t>
                </a:r>
              </a:p>
              <a:p>
                <a:r>
                  <a:rPr lang="en-AU" sz="1600" dirty="0"/>
                  <a:t>Analyst</a:t>
                </a: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E94ADD-6A3F-0AF3-6739-CDCBAABEE476}"/>
              </a:ext>
            </a:extLst>
          </p:cNvPr>
          <p:cNvGrpSpPr/>
          <p:nvPr/>
        </p:nvGrpSpPr>
        <p:grpSpPr>
          <a:xfrm>
            <a:off x="965075" y="4259149"/>
            <a:ext cx="1881031" cy="2202442"/>
            <a:chOff x="703969" y="3879379"/>
            <a:chExt cx="1881031" cy="220244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E62595F-6DDC-82A8-AA68-1105198E118B}"/>
                </a:ext>
              </a:extLst>
            </p:cNvPr>
            <p:cNvGrpSpPr/>
            <p:nvPr/>
          </p:nvGrpSpPr>
          <p:grpSpPr>
            <a:xfrm>
              <a:off x="703969" y="5361821"/>
              <a:ext cx="1881031" cy="720000"/>
              <a:chOff x="454537" y="2390435"/>
              <a:chExt cx="1881031" cy="720000"/>
            </a:xfrm>
          </p:grpSpPr>
          <p:pic>
            <p:nvPicPr>
              <p:cNvPr id="36" name="Graphic 35" descr="User with solid fill">
                <a:extLst>
                  <a:ext uri="{FF2B5EF4-FFF2-40B4-BE49-F238E27FC236}">
                    <a16:creationId xmlns:a16="http://schemas.microsoft.com/office/drawing/2014/main" id="{02031BA4-884E-E122-32CF-958C74F1E1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4537" y="2390435"/>
                <a:ext cx="720000" cy="720000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F3904F2-A8AA-8886-BE23-4D996DA67ED1}"/>
                  </a:ext>
                </a:extLst>
              </p:cNvPr>
              <p:cNvSpPr txBox="1"/>
              <p:nvPr/>
            </p:nvSpPr>
            <p:spPr>
              <a:xfrm>
                <a:off x="1140817" y="2458048"/>
                <a:ext cx="119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dirty="0"/>
                  <a:t>Application</a:t>
                </a:r>
              </a:p>
              <a:p>
                <a:r>
                  <a:rPr lang="en-AU" sz="1600" dirty="0"/>
                  <a:t>Manager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98848A9-E04F-AD5D-002B-52449826717F}"/>
                </a:ext>
              </a:extLst>
            </p:cNvPr>
            <p:cNvGrpSpPr/>
            <p:nvPr/>
          </p:nvGrpSpPr>
          <p:grpSpPr>
            <a:xfrm>
              <a:off x="703969" y="3879379"/>
              <a:ext cx="1645197" cy="720000"/>
              <a:chOff x="454537" y="3382853"/>
              <a:chExt cx="1645197" cy="720000"/>
            </a:xfrm>
          </p:grpSpPr>
          <p:pic>
            <p:nvPicPr>
              <p:cNvPr id="35" name="Graphic 34" descr="User with solid fill">
                <a:extLst>
                  <a:ext uri="{FF2B5EF4-FFF2-40B4-BE49-F238E27FC236}">
                    <a16:creationId xmlns:a16="http://schemas.microsoft.com/office/drawing/2014/main" id="{CB02F225-47BB-893C-0B49-ECD87131A9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4537" y="3382853"/>
                <a:ext cx="720000" cy="720000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C7E6D6-09CD-505E-177A-911022D8A25A}"/>
                  </a:ext>
                </a:extLst>
              </p:cNvPr>
              <p:cNvSpPr txBox="1"/>
              <p:nvPr/>
            </p:nvSpPr>
            <p:spPr>
              <a:xfrm>
                <a:off x="1140817" y="3450466"/>
                <a:ext cx="9589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dirty="0"/>
                  <a:t>Data</a:t>
                </a:r>
              </a:p>
              <a:p>
                <a:r>
                  <a:rPr lang="en-AU" sz="1600" dirty="0"/>
                  <a:t>Engineer</a:t>
                </a:r>
              </a:p>
            </p:txBody>
          </p:sp>
        </p:grp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20C0FB7-C1F9-1723-31CE-2D257BE4817F}"/>
              </a:ext>
            </a:extLst>
          </p:cNvPr>
          <p:cNvSpPr/>
          <p:nvPr/>
        </p:nvSpPr>
        <p:spPr>
          <a:xfrm>
            <a:off x="7535719" y="7250370"/>
            <a:ext cx="162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dirty="0"/>
              <a:t>Reusable Services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36EAB9A-BC4F-0FF7-147D-B2C50A7555F5}"/>
              </a:ext>
            </a:extLst>
          </p:cNvPr>
          <p:cNvCxnSpPr>
            <a:cxnSpLocks/>
            <a:stCxn id="4" idx="2"/>
            <a:endCxn id="49" idx="0"/>
          </p:cNvCxnSpPr>
          <p:nvPr/>
        </p:nvCxnSpPr>
        <p:spPr>
          <a:xfrm>
            <a:off x="8345719" y="6241828"/>
            <a:ext cx="0" cy="100854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117894E-CEF0-1722-2307-7D6C615D309E}"/>
              </a:ext>
            </a:extLst>
          </p:cNvPr>
          <p:cNvSpPr/>
          <p:nvPr/>
        </p:nvSpPr>
        <p:spPr>
          <a:xfrm>
            <a:off x="10177870" y="5161828"/>
            <a:ext cx="540000" cy="108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AU" sz="1600" dirty="0"/>
              <a:t>Context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F3A1BE0-AC45-6307-4306-7616E0326B1A}"/>
              </a:ext>
            </a:extLst>
          </p:cNvPr>
          <p:cNvCxnSpPr>
            <a:cxnSpLocks/>
            <a:stCxn id="4" idx="3"/>
            <a:endCxn id="54" idx="1"/>
          </p:cNvCxnSpPr>
          <p:nvPr/>
        </p:nvCxnSpPr>
        <p:spPr>
          <a:xfrm>
            <a:off x="9155719" y="5701828"/>
            <a:ext cx="1022151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4778875-047B-4081-C71A-DA0840AD3542}"/>
              </a:ext>
            </a:extLst>
          </p:cNvPr>
          <p:cNvSpPr txBox="1"/>
          <p:nvPr/>
        </p:nvSpPr>
        <p:spPr>
          <a:xfrm>
            <a:off x="8726276" y="6320163"/>
            <a:ext cx="1318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AU" dirty="0"/>
              <a:t>Pre‑built</a:t>
            </a:r>
          </a:p>
          <a:p>
            <a:r>
              <a:rPr lang="en-AU" dirty="0"/>
              <a:t>Ready to use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2584D56-4AA4-AD98-4716-8E84D5A2108C}"/>
              </a:ext>
            </a:extLst>
          </p:cNvPr>
          <p:cNvSpPr/>
          <p:nvPr/>
        </p:nvSpPr>
        <p:spPr>
          <a:xfrm>
            <a:off x="4655719" y="1841099"/>
            <a:ext cx="5760000" cy="540000"/>
          </a:xfrm>
          <a:prstGeom prst="roundRect">
            <a:avLst>
              <a:gd name="adj" fmla="val 50000"/>
            </a:avLst>
          </a:prstGeom>
          <a:solidFill>
            <a:srgbClr val="DAE4BE"/>
          </a:solidFill>
          <a:ln>
            <a:solidFill>
              <a:srgbClr val="788F3A"/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Enhance analytics capability</a:t>
            </a:r>
            <a:r>
              <a:rPr lang="en-AU" sz="1600" dirty="0"/>
              <a:t> by delivering reporting and analytics projects that drive actionable insights.</a:t>
            </a:r>
            <a:endParaRPr lang="en-AU" sz="1600" dirty="0">
              <a:solidFill>
                <a:schemeClr val="dk1"/>
              </a:solidFill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23A6522-7346-8D07-AEE2-6A207F4D9AEB}"/>
              </a:ext>
            </a:extLst>
          </p:cNvPr>
          <p:cNvSpPr/>
          <p:nvPr/>
        </p:nvSpPr>
        <p:spPr>
          <a:xfrm rot="16200000">
            <a:off x="542929" y="5090370"/>
            <a:ext cx="5760000" cy="54000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Strengthen data capability</a:t>
            </a:r>
            <a:r>
              <a:rPr lang="en-US" sz="1600" dirty="0"/>
              <a:t> by delivering core data projects that enable a trusted, end‑to‑end view of the business.</a:t>
            </a:r>
            <a:endParaRPr lang="en-AU" sz="1600" dirty="0">
              <a:solidFill>
                <a:schemeClr val="dk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6B230-DECE-8312-71C5-11B91257ECCE}"/>
              </a:ext>
            </a:extLst>
          </p:cNvPr>
          <p:cNvSpPr txBox="1"/>
          <p:nvPr/>
        </p:nvSpPr>
        <p:spPr>
          <a:xfrm>
            <a:off x="287430" y="214860"/>
            <a:ext cx="1819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V# Overview</a:t>
            </a:r>
          </a:p>
        </p:txBody>
      </p:sp>
    </p:spTree>
    <p:extLst>
      <p:ext uri="{BB962C8B-B14F-4D97-AF65-F5344CB8AC3E}">
        <p14:creationId xmlns:p14="http://schemas.microsoft.com/office/powerpoint/2010/main" val="4003224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BC10C0-608F-EBAD-FF15-1A9AD090ABB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572194" y="2348576"/>
            <a:ext cx="2880000" cy="593999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E615B0-82B8-0D0B-85B3-5D7A9135329B}"/>
              </a:ext>
            </a:extLst>
          </p:cNvPr>
          <p:cNvSpPr/>
          <p:nvPr/>
        </p:nvSpPr>
        <p:spPr>
          <a:xfrm>
            <a:off x="1767872" y="2338259"/>
            <a:ext cx="3420000" cy="5940001"/>
          </a:xfrm>
          <a:prstGeom prst="roundRect">
            <a:avLst>
              <a:gd name="adj" fmla="val 1001"/>
            </a:avLst>
          </a:prstGeom>
          <a:solidFill>
            <a:schemeClr val="bg2">
              <a:alpha val="50000"/>
            </a:schemeClr>
          </a:solidFill>
          <a:ln w="1016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00" dirty="0">
              <a:latin typeface="Aptos Light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2FC5A7-F606-7390-6A07-DE96D553CB66}"/>
              </a:ext>
            </a:extLst>
          </p:cNvPr>
          <p:cNvSpPr/>
          <p:nvPr/>
        </p:nvSpPr>
        <p:spPr>
          <a:xfrm>
            <a:off x="5385721" y="6838260"/>
            <a:ext cx="5400000" cy="1440000"/>
          </a:xfrm>
          <a:prstGeom prst="roundRect">
            <a:avLst>
              <a:gd name="adj" fmla="val 2776"/>
            </a:avLst>
          </a:prstGeom>
          <a:solidFill>
            <a:schemeClr val="bg2">
              <a:alpha val="5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>
              <a:defRPr/>
            </a:pP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Root | Lake: Source Data Layer; 			</a:t>
            </a:r>
            <a:r>
              <a:rPr lang="en-AU" sz="1000" b="1" kern="0" dirty="0">
                <a:latin typeface="Aptos Light" panose="020B0004020202020204" pitchFamily="34" charset="0"/>
              </a:rPr>
              <a:t>	</a:t>
            </a: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[Stage 1 - Extract]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E2B2D5-79F0-8511-F8B9-27C48C09903A}"/>
              </a:ext>
            </a:extLst>
          </p:cNvPr>
          <p:cNvSpPr/>
          <p:nvPr/>
        </p:nvSpPr>
        <p:spPr>
          <a:xfrm>
            <a:off x="5385721" y="5338260"/>
            <a:ext cx="5400000" cy="1440000"/>
          </a:xfrm>
          <a:prstGeom prst="roundRect">
            <a:avLst>
              <a:gd name="adj" fmla="val 2776"/>
            </a:avLst>
          </a:prstGeom>
          <a:solidFill>
            <a:schemeClr val="bg2">
              <a:alpha val="5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>
              <a:defRPr/>
            </a:pP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Stem | Hub: Harmonized Repository Layer;			[Stage 2 - Store]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6929C5-138B-6B62-9494-15E48BCA7B4A}"/>
              </a:ext>
            </a:extLst>
          </p:cNvPr>
          <p:cNvSpPr/>
          <p:nvPr/>
        </p:nvSpPr>
        <p:spPr>
          <a:xfrm>
            <a:off x="5385721" y="3838260"/>
            <a:ext cx="5400000" cy="1440000"/>
          </a:xfrm>
          <a:prstGeom prst="roundRect">
            <a:avLst>
              <a:gd name="adj" fmla="val 2942"/>
            </a:avLst>
          </a:prstGeom>
          <a:solidFill>
            <a:schemeClr val="bg2">
              <a:alpha val="5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>
              <a:defRPr/>
            </a:pPr>
            <a:r>
              <a:rPr lang="en-AU" sz="1000" b="1" kern="0" dirty="0">
                <a:latin typeface="Aptos Light" panose="020B0004020202020204" pitchFamily="34" charset="0"/>
              </a:rPr>
              <a:t>Branch | Mart</a:t>
            </a: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: Analytical Modelling Layer;			[Stage 3 - Refresh, 4 - Update]</a:t>
            </a:r>
          </a:p>
          <a:p>
            <a:pPr>
              <a:defRPr/>
            </a:pPr>
            <a:endParaRPr kumimoji="0" lang="en-AU" sz="10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 Light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6139C0-F817-9556-93E3-789C2C80B688}"/>
              </a:ext>
            </a:extLst>
          </p:cNvPr>
          <p:cNvSpPr/>
          <p:nvPr/>
        </p:nvSpPr>
        <p:spPr>
          <a:xfrm>
            <a:off x="5385721" y="2338260"/>
            <a:ext cx="5400000" cy="1440000"/>
          </a:xfrm>
          <a:prstGeom prst="roundRect">
            <a:avLst>
              <a:gd name="adj" fmla="val 3107"/>
            </a:avLst>
          </a:prstGeom>
          <a:solidFill>
            <a:schemeClr val="bg2">
              <a:alpha val="5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>
              <a:defRPr/>
            </a:pP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Leaf &amp; Cherry | </a:t>
            </a:r>
            <a:r>
              <a:rPr lang="en-AU" sz="1000" b="1" kern="0" dirty="0">
                <a:latin typeface="Aptos Light" panose="020B0004020202020204" pitchFamily="34" charset="0"/>
              </a:rPr>
              <a:t>Query &amp; Insight</a:t>
            </a: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: Consumption Layer;		[Stage 5 - </a:t>
            </a:r>
            <a:r>
              <a:rPr lang="en-AU" sz="1000" b="1" kern="0" dirty="0">
                <a:latin typeface="Aptos Light" panose="020B0004020202020204" pitchFamily="34" charset="0"/>
              </a:rPr>
              <a:t>Query</a:t>
            </a: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, 6 - </a:t>
            </a:r>
            <a:r>
              <a:rPr lang="en-AU" sz="1000" b="1" kern="0" dirty="0">
                <a:latin typeface="Aptos Light" panose="020B0004020202020204" pitchFamily="34" charset="0"/>
              </a:rPr>
              <a:t>Reload</a:t>
            </a:r>
            <a:r>
              <a:rPr kumimoji="0" lang="en-AU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]</a:t>
            </a: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7F2157FB-B3BC-2769-0CCF-1C4CB18E24F2}"/>
              </a:ext>
            </a:extLst>
          </p:cNvPr>
          <p:cNvSpPr>
            <a:spLocks noChangeAspect="1"/>
          </p:cNvSpPr>
          <p:nvPr/>
        </p:nvSpPr>
        <p:spPr>
          <a:xfrm>
            <a:off x="5687964" y="7633364"/>
            <a:ext cx="540000" cy="540000"/>
          </a:xfrm>
          <a:prstGeom prst="trapezoid">
            <a:avLst/>
          </a:prstGeom>
          <a:solidFill>
            <a:sysClr val="window" lastClr="FFFFFF">
              <a:lumMod val="85000"/>
            </a:sysClr>
          </a:solidFill>
          <a:ln w="19050" cap="rnd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Light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4D2FF6-3AE0-B4A5-2DDF-2C2E990C7E92}"/>
              </a:ext>
            </a:extLst>
          </p:cNvPr>
          <p:cNvSpPr>
            <a:spLocks noChangeAspect="1"/>
          </p:cNvSpPr>
          <p:nvPr/>
        </p:nvSpPr>
        <p:spPr>
          <a:xfrm>
            <a:off x="5689311" y="5861770"/>
            <a:ext cx="540000" cy="540000"/>
          </a:xfrm>
          <a:prstGeom prst="roundRect">
            <a:avLst>
              <a:gd name="adj" fmla="val 10584"/>
            </a:avLst>
          </a:prstGeom>
          <a:solidFill>
            <a:schemeClr val="accent4">
              <a:lumMod val="20000"/>
              <a:lumOff val="80000"/>
            </a:schemeClr>
          </a:solidFill>
          <a:ln w="1905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r>
              <a:rPr lang="en-US" sz="2000" kern="0" dirty="0">
                <a:latin typeface="Aptos Light" panose="020B0004020202020204" pitchFamily="34" charset="0"/>
              </a:rPr>
              <a:t>H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1CB1D49F-1949-939C-B929-82FF4A7AA0EB}"/>
              </a:ext>
            </a:extLst>
          </p:cNvPr>
          <p:cNvSpPr>
            <a:spLocks noChangeAspect="1"/>
          </p:cNvSpPr>
          <p:nvPr/>
        </p:nvSpPr>
        <p:spPr>
          <a:xfrm>
            <a:off x="5689311" y="4657839"/>
            <a:ext cx="540000" cy="540000"/>
          </a:xfrm>
          <a:prstGeom prst="octagon">
            <a:avLst/>
          </a:prstGeom>
          <a:solidFill>
            <a:schemeClr val="accent4">
              <a:lumMod val="20000"/>
              <a:lumOff val="80000"/>
            </a:schemeClr>
          </a:solidFill>
          <a:ln w="1905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r>
              <a:rPr lang="en-US" sz="2000" kern="0" dirty="0">
                <a:latin typeface="Aptos Light" panose="020B0004020202020204" pitchFamily="34" charset="0"/>
              </a:rPr>
              <a:t>M</a:t>
            </a:r>
          </a:p>
        </p:txBody>
      </p:sp>
      <p:sp>
        <p:nvSpPr>
          <p:cNvPr id="12" name="Heptagon 11">
            <a:extLst>
              <a:ext uri="{FF2B5EF4-FFF2-40B4-BE49-F238E27FC236}">
                <a16:creationId xmlns:a16="http://schemas.microsoft.com/office/drawing/2014/main" id="{C3D5182C-D2E4-7D2D-8051-FC55956E2CBD}"/>
              </a:ext>
            </a:extLst>
          </p:cNvPr>
          <p:cNvSpPr>
            <a:spLocks noChangeAspect="1"/>
          </p:cNvSpPr>
          <p:nvPr/>
        </p:nvSpPr>
        <p:spPr>
          <a:xfrm>
            <a:off x="5689311" y="3169917"/>
            <a:ext cx="540000" cy="540000"/>
          </a:xfrm>
          <a:prstGeom prst="heptagon">
            <a:avLst/>
          </a:prstGeom>
          <a:solidFill>
            <a:schemeClr val="accent6">
              <a:lumMod val="20000"/>
              <a:lumOff val="80000"/>
            </a:schemeClr>
          </a:solidFill>
          <a:ln w="19050" cap="rnd">
            <a:solidFill>
              <a:schemeClr val="accent6">
                <a:lumMod val="75000"/>
              </a:schemeClr>
            </a:solidFill>
            <a:prstDash val="solid"/>
            <a:round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Light" panose="020B0004020202020204" pitchFamily="34" charset="0"/>
              </a:rPr>
              <a:t>R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2106A70-102A-4D26-E598-826E99ED9543}"/>
              </a:ext>
            </a:extLst>
          </p:cNvPr>
          <p:cNvSpPr>
            <a:spLocks noChangeAspect="1"/>
          </p:cNvSpPr>
          <p:nvPr/>
        </p:nvSpPr>
        <p:spPr>
          <a:xfrm>
            <a:off x="5689311" y="2580531"/>
            <a:ext cx="540000" cy="540000"/>
          </a:xfrm>
          <a:custGeom>
            <a:avLst/>
            <a:gdLst>
              <a:gd name="connsiteX0" fmla="*/ 600000 w 600000"/>
              <a:gd name="connsiteY0" fmla="*/ 300000 h 600000"/>
              <a:gd name="connsiteX1" fmla="*/ 300000 w 600000"/>
              <a:gd name="connsiteY1" fmla="*/ 600000 h 600000"/>
              <a:gd name="connsiteX2" fmla="*/ 0 w 600000"/>
              <a:gd name="connsiteY2" fmla="*/ 300000 h 600000"/>
              <a:gd name="connsiteX3" fmla="*/ 300000 w 600000"/>
              <a:gd name="connsiteY3" fmla="*/ 0 h 600000"/>
              <a:gd name="connsiteX4" fmla="*/ 600000 w 600000"/>
              <a:gd name="connsiteY4" fmla="*/ 3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00" h="600000">
                <a:moveTo>
                  <a:pt x="600000" y="300000"/>
                </a:moveTo>
                <a:cubicBezTo>
                  <a:pt x="600000" y="465685"/>
                  <a:pt x="465685" y="600000"/>
                  <a:pt x="300000" y="600000"/>
                </a:cubicBezTo>
                <a:cubicBezTo>
                  <a:pt x="134315" y="600000"/>
                  <a:pt x="0" y="465685"/>
                  <a:pt x="0" y="300000"/>
                </a:cubicBezTo>
                <a:cubicBezTo>
                  <a:pt x="0" y="134315"/>
                  <a:pt x="134315" y="0"/>
                  <a:pt x="300000" y="0"/>
                </a:cubicBezTo>
                <a:cubicBezTo>
                  <a:pt x="465685" y="0"/>
                  <a:pt x="600000" y="134315"/>
                  <a:pt x="600000" y="300000"/>
                </a:cubicBezTo>
                <a:close/>
              </a:path>
            </a:pathLst>
          </a:custGeom>
          <a:solidFill>
            <a:srgbClr val="FFC9C9"/>
          </a:solidFill>
          <a:ln w="19050" cap="rnd">
            <a:solidFill>
              <a:srgbClr val="C0000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Aptos Light" panose="020B0004020202020204" pitchFamily="34" charset="0"/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10D0196-AC1C-E14C-F150-4AD4E761EB8C}"/>
              </a:ext>
            </a:extLst>
          </p:cNvPr>
          <p:cNvSpPr/>
          <p:nvPr/>
        </p:nvSpPr>
        <p:spPr>
          <a:xfrm>
            <a:off x="5509311" y="7124014"/>
            <a:ext cx="900000" cy="288000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1905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  <a:r>
              <a:rPr lang="en-AU" sz="2000" kern="0" dirty="0">
                <a:latin typeface="Aptos Light" panose="020B0004020202020204" pitchFamily="34" charset="0"/>
              </a:rPr>
              <a:t>LV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C09AB4C3-6C80-EEC8-5246-017E9991768E}"/>
              </a:ext>
            </a:extLst>
          </p:cNvPr>
          <p:cNvSpPr/>
          <p:nvPr/>
        </p:nvSpPr>
        <p:spPr>
          <a:xfrm>
            <a:off x="5509311" y="4111793"/>
            <a:ext cx="900000" cy="288000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1905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  <a:r>
              <a:rPr lang="en-AU" sz="2000" kern="0" dirty="0">
                <a:latin typeface="Aptos Light" panose="020B0004020202020204" pitchFamily="34" charset="0"/>
              </a:rPr>
              <a:t>MV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C1040C-0EA0-B8ED-7E64-17323540CF2B}"/>
              </a:ext>
            </a:extLst>
          </p:cNvPr>
          <p:cNvSpPr/>
          <p:nvPr/>
        </p:nvSpPr>
        <p:spPr>
          <a:xfrm>
            <a:off x="6881221" y="7688014"/>
            <a:ext cx="3816000" cy="504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rnd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txBody>
          <a:bodyPr rtlCol="0" anchor="ctr"/>
          <a:lstStyle/>
          <a:p>
            <a:r>
              <a:rPr lang="en-AU" sz="1000" kern="0" dirty="0">
                <a:latin typeface="Aptos Light" panose="020B0004020202020204" pitchFamily="34" charset="0"/>
              </a:rPr>
              <a:t>Grey: Raw Data Structure Storage</a:t>
            </a:r>
          </a:p>
          <a:p>
            <a:r>
              <a:rPr lang="en-AU" sz="1000" kern="0" dirty="0">
                <a:latin typeface="Aptos Light" panose="020B0004020202020204" pitchFamily="34" charset="0"/>
              </a:rPr>
              <a:t>Original Objects, Columns and Joins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</a:t>
            </a:r>
            <a:r>
              <a:rPr lang="en-AU" sz="1000" kern="0" dirty="0">
                <a:latin typeface="Aptos Light" panose="020B0004020202020204" pitchFamily="34" charset="0"/>
              </a:rPr>
              <a:t>:  T1.C101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517F66-6146-A05D-F237-8F0F7A8A6A2B}"/>
              </a:ext>
            </a:extLst>
          </p:cNvPr>
          <p:cNvSpPr/>
          <p:nvPr/>
        </p:nvSpPr>
        <p:spPr>
          <a:xfrm>
            <a:off x="6881221" y="7124014"/>
            <a:ext cx="3816000" cy="504000"/>
          </a:xfrm>
          <a:prstGeom prst="roundRect">
            <a:avLst/>
          </a:prstGeom>
          <a:solidFill>
            <a:srgbClr val="CAEEFB"/>
          </a:solidFill>
          <a:ln w="1270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Blue: Lake View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Re-structured Entities, Attributes, De-code, Denormalized, Full E.g.: ERP.Product.ProductCode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4EFCB1-8F51-244A-7EFF-EB614CA5CF38}"/>
              </a:ext>
            </a:extLst>
          </p:cNvPr>
          <p:cNvSpPr/>
          <p:nvPr/>
        </p:nvSpPr>
        <p:spPr>
          <a:xfrm>
            <a:off x="6881221" y="6191383"/>
            <a:ext cx="3816000" cy="504000"/>
          </a:xfrm>
          <a:prstGeom prst="roundRect">
            <a:avLst>
              <a:gd name="adj" fmla="val 9108"/>
            </a:avLst>
          </a:prstGeom>
          <a:solidFill>
            <a:srgbClr val="CAEEFB"/>
          </a:solidFill>
          <a:ln w="1270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Blue: Standardized and Unified Storage 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Application, Entity, Attribute and Pattern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E.g.: ERP.Product.ProductCode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8E32C47-CD52-CD83-20FC-74466E7CC9A0}"/>
              </a:ext>
            </a:extLst>
          </p:cNvPr>
          <p:cNvSpPr/>
          <p:nvPr/>
        </p:nvSpPr>
        <p:spPr>
          <a:xfrm>
            <a:off x="6881221" y="5627770"/>
            <a:ext cx="3816000" cy="504000"/>
          </a:xfrm>
          <a:prstGeom prst="roundRect">
            <a:avLst>
              <a:gd name="adj" fmla="val 6273"/>
            </a:avLst>
          </a:prstGeom>
          <a:solidFill>
            <a:srgbClr val="CAEEFB"/>
          </a:solidFill>
          <a:ln w="1270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Blue: Harmonized Views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Application, Entity, Attribute and Pattern 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E.g.: ERP.Product.ProductCode and ERP.ProductHist.ProductCode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D9AC04-120A-1314-1DD0-4CE3E66B47CE}"/>
              </a:ext>
            </a:extLst>
          </p:cNvPr>
          <p:cNvSpPr/>
          <p:nvPr/>
        </p:nvSpPr>
        <p:spPr>
          <a:xfrm>
            <a:off x="6881221" y="4698893"/>
            <a:ext cx="3816000" cy="504000"/>
          </a:xfrm>
          <a:prstGeom prst="roundRect">
            <a:avLst/>
          </a:prstGeom>
          <a:solidFill>
            <a:srgbClr val="CAEEFB"/>
          </a:solidFill>
          <a:ln w="1270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Blue: Enriched Data Structure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Subject, Entity, Attribute, Metric and Business Logic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E.g.: MST_Product.ProductCode; MST_ Product.CA_Age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F42845-D213-FF9F-982B-F17B5E9AF59F}"/>
              </a:ext>
            </a:extLst>
          </p:cNvPr>
          <p:cNvSpPr/>
          <p:nvPr/>
        </p:nvSpPr>
        <p:spPr>
          <a:xfrm>
            <a:off x="6881221" y="4111793"/>
            <a:ext cx="3816000" cy="504000"/>
          </a:xfrm>
          <a:prstGeom prst="roundRect">
            <a:avLst>
              <a:gd name="adj" fmla="val 7218"/>
            </a:avLst>
          </a:prstGeom>
          <a:solidFill>
            <a:srgbClr val="CAEEFB"/>
          </a:solidFill>
          <a:ln w="1270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Blue: Analytical Model Views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Model, Entity, Attribute, Metric, Friendly Named, Re-grouped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E.g.: Product.ProductCode and Product Code; Sales.Value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A6AB03-01EA-161D-1474-E0484A131E86}"/>
              </a:ext>
            </a:extLst>
          </p:cNvPr>
          <p:cNvSpPr/>
          <p:nvPr/>
        </p:nvSpPr>
        <p:spPr>
          <a:xfrm>
            <a:off x="6881221" y="3199969"/>
            <a:ext cx="3816000" cy="504000"/>
          </a:xfrm>
          <a:prstGeom prst="roundRect">
            <a:avLst>
              <a:gd name="adj" fmla="val 8635"/>
            </a:avLst>
          </a:prstGeom>
          <a:solidFill>
            <a:schemeClr val="bg1">
              <a:lumMod val="95000"/>
            </a:schemeClr>
          </a:solidFill>
          <a:ln w="12700" cap="rnd"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Green: Reporting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Dataset, Attribute, Metric, Aggregation and Experiments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E.g.: Query, Filter, Pivot, Summary, Dashboard, Performance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B31547-90EF-AF69-D864-A3D96F5E7AA5}"/>
              </a:ext>
            </a:extLst>
          </p:cNvPr>
          <p:cNvSpPr/>
          <p:nvPr/>
        </p:nvSpPr>
        <p:spPr>
          <a:xfrm>
            <a:off x="6881221" y="2580531"/>
            <a:ext cx="3816000" cy="504000"/>
          </a:xfrm>
          <a:prstGeom prst="roundRect">
            <a:avLst>
              <a:gd name="adj" fmla="val 6745"/>
            </a:avLst>
          </a:prstGeom>
          <a:solidFill>
            <a:schemeClr val="bg1">
              <a:lumMod val="95000"/>
            </a:schemeClr>
          </a:solidFill>
          <a:ln w="12700" cap="rnd">
            <a:solidFill>
              <a:srgbClr val="C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Red: Actionable Insights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Metric, Target, Actions and Indicators</a:t>
            </a:r>
          </a:p>
          <a:p>
            <a:r>
              <a:rPr lang="en-AU" sz="1000" kern="0" dirty="0">
                <a:solidFill>
                  <a:prstClr val="black"/>
                </a:solidFill>
                <a:latin typeface="Aptos Light" panose="020B0004020202020204" pitchFamily="34" charset="0"/>
              </a:rPr>
              <a:t>E.g.: High Value Product List and Actual vs Target Trend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2CB19E-9E35-B060-1C0F-C8C9585D3DC7}"/>
              </a:ext>
            </a:extLst>
          </p:cNvPr>
          <p:cNvGrpSpPr/>
          <p:nvPr/>
        </p:nvGrpSpPr>
        <p:grpSpPr>
          <a:xfrm>
            <a:off x="9227327" y="7762343"/>
            <a:ext cx="1468335" cy="400110"/>
            <a:chOff x="7632765" y="6096382"/>
            <a:chExt cx="1468335" cy="40011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B6990F-61E2-5B87-6BDD-E100A165D5BC}"/>
                </a:ext>
              </a:extLst>
            </p:cNvPr>
            <p:cNvSpPr txBox="1"/>
            <p:nvPr/>
          </p:nvSpPr>
          <p:spPr>
            <a:xfrm>
              <a:off x="7805100" y="6096382"/>
              <a:ext cx="1296000" cy="40011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en-AU" sz="1000" kern="0" dirty="0">
                  <a:latin typeface="Aptos Light" panose="020B0004020202020204" pitchFamily="34" charset="0"/>
                </a:rPr>
                <a:t>Ingestion Pattern</a:t>
              </a:r>
            </a:p>
            <a:p>
              <a:r>
                <a:rPr lang="en-AU" sz="1000" kern="0" dirty="0">
                  <a:latin typeface="Aptos Light" panose="020B0004020202020204" pitchFamily="34" charset="0"/>
                </a:rPr>
                <a:t>1.Full or 2.Partial</a:t>
              </a:r>
            </a:p>
          </p:txBody>
        </p:sp>
        <p:sp>
          <p:nvSpPr>
            <p:cNvPr id="26" name="Arrow: Up 25">
              <a:extLst>
                <a:ext uri="{FF2B5EF4-FFF2-40B4-BE49-F238E27FC236}">
                  <a16:creationId xmlns:a16="http://schemas.microsoft.com/office/drawing/2014/main" id="{80316E79-3EFC-7222-59E8-45EC8B96C547}"/>
                </a:ext>
              </a:extLst>
            </p:cNvPr>
            <p:cNvSpPr/>
            <p:nvPr/>
          </p:nvSpPr>
          <p:spPr>
            <a:xfrm>
              <a:off x="7632765" y="6116437"/>
              <a:ext cx="216000" cy="360000"/>
            </a:xfrm>
            <a:prstGeom prst="up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 defTabSz="914400"/>
              <a:endParaRPr lang="en-AU" sz="2000" kern="0">
                <a:solidFill>
                  <a:prstClr val="black"/>
                </a:solidFill>
                <a:latin typeface="Aptos Light" panose="020B00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5CFCC15-0E72-3836-001A-4070A3E435B4}"/>
              </a:ext>
            </a:extLst>
          </p:cNvPr>
          <p:cNvGrpSpPr/>
          <p:nvPr/>
        </p:nvGrpSpPr>
        <p:grpSpPr>
          <a:xfrm>
            <a:off x="9227327" y="6264542"/>
            <a:ext cx="1468335" cy="400110"/>
            <a:chOff x="7632765" y="4598581"/>
            <a:chExt cx="1468335" cy="4001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AB1C5F-0D01-3B23-E877-87F3116A99D4}"/>
                </a:ext>
              </a:extLst>
            </p:cNvPr>
            <p:cNvSpPr txBox="1"/>
            <p:nvPr/>
          </p:nvSpPr>
          <p:spPr>
            <a:xfrm>
              <a:off x="7805100" y="4598581"/>
              <a:ext cx="1296000" cy="40011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>
              <a:defPPr>
                <a:defRPr lang="en-US"/>
              </a:defPPr>
              <a:lvl1pPr>
                <a:defRPr sz="1000" kern="0">
                  <a:latin typeface="Aptos Light" panose="020B0004020202020204" pitchFamily="34" charset="0"/>
                </a:defRPr>
              </a:lvl1pPr>
            </a:lstStyle>
            <a:p>
              <a:r>
                <a:rPr lang="en-AU" dirty="0"/>
                <a:t>Storage Pattern</a:t>
              </a:r>
            </a:p>
            <a:p>
              <a:r>
                <a:rPr lang="en-AU" dirty="0"/>
                <a:t>1.Full or 3.Snapshot</a:t>
              </a:r>
            </a:p>
          </p:txBody>
        </p:sp>
        <p:sp>
          <p:nvSpPr>
            <p:cNvPr id="29" name="Arrow: Up 28">
              <a:extLst>
                <a:ext uri="{FF2B5EF4-FFF2-40B4-BE49-F238E27FC236}">
                  <a16:creationId xmlns:a16="http://schemas.microsoft.com/office/drawing/2014/main" id="{C6AEC3C6-B94E-C094-BBE8-85F64B01FD1E}"/>
                </a:ext>
              </a:extLst>
            </p:cNvPr>
            <p:cNvSpPr/>
            <p:nvPr/>
          </p:nvSpPr>
          <p:spPr>
            <a:xfrm>
              <a:off x="7632765" y="4618636"/>
              <a:ext cx="216000" cy="360000"/>
            </a:xfrm>
            <a:prstGeom prst="upArrow">
              <a:avLst/>
            </a:prstGeom>
            <a:solidFill>
              <a:schemeClr val="accent4"/>
            </a:solidFill>
            <a:ln w="19050" cap="rnd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 defTabSz="914400"/>
              <a:endParaRPr lang="en-AU" sz="2000" kern="0">
                <a:solidFill>
                  <a:prstClr val="black"/>
                </a:solidFill>
                <a:latin typeface="Aptos Light" panose="020B0004020202020204" pitchFamily="34" charset="0"/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5EE8699-74E5-42AF-AB54-68C744DB4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086245"/>
              </p:ext>
            </p:extLst>
          </p:nvPr>
        </p:nvGraphicFramePr>
        <p:xfrm>
          <a:off x="1857872" y="5467470"/>
          <a:ext cx="3240001" cy="320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4882">
                  <a:extLst>
                    <a:ext uri="{9D8B030D-6E8A-4147-A177-3AD203B41FA5}">
                      <a16:colId xmlns:a16="http://schemas.microsoft.com/office/drawing/2014/main" val="67269000"/>
                    </a:ext>
                  </a:extLst>
                </a:gridCol>
                <a:gridCol w="838373">
                  <a:extLst>
                    <a:ext uri="{9D8B030D-6E8A-4147-A177-3AD203B41FA5}">
                      <a16:colId xmlns:a16="http://schemas.microsoft.com/office/drawing/2014/main" val="4144992327"/>
                    </a:ext>
                  </a:extLst>
                </a:gridCol>
                <a:gridCol w="838373">
                  <a:extLst>
                    <a:ext uri="{9D8B030D-6E8A-4147-A177-3AD203B41FA5}">
                      <a16:colId xmlns:a16="http://schemas.microsoft.com/office/drawing/2014/main" val="131831487"/>
                    </a:ext>
                  </a:extLst>
                </a:gridCol>
                <a:gridCol w="838373">
                  <a:extLst>
                    <a:ext uri="{9D8B030D-6E8A-4147-A177-3AD203B41FA5}">
                      <a16:colId xmlns:a16="http://schemas.microsoft.com/office/drawing/2014/main" val="1035051336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b="1" i="1" u="none" strike="noStrike" dirty="0">
                          <a:effectLst/>
                        </a:rPr>
                        <a:t>Depth</a:t>
                      </a:r>
                      <a:endParaRPr lang="en-AU" sz="1000" b="1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i="1" u="none" strike="noStrike" dirty="0">
                          <a:effectLst/>
                        </a:rPr>
                        <a:t>Structural</a:t>
                      </a:r>
                      <a:endParaRPr lang="en-AU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i="1" u="none" strike="noStrike" dirty="0">
                          <a:effectLst/>
                        </a:rPr>
                        <a:t>Functional</a:t>
                      </a:r>
                      <a:endParaRPr lang="en-AU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BA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i="1" u="none" strike="noStrike" dirty="0">
                          <a:effectLst/>
                        </a:rPr>
                        <a:t>Cosmetic</a:t>
                      </a:r>
                      <a:endParaRPr lang="en-AU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8747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b="1" i="1" u="none" strike="noStrike" dirty="0">
                          <a:effectLst/>
                        </a:rPr>
                        <a:t>Scope</a:t>
                      </a:r>
                      <a:endParaRPr lang="en-AU" sz="1000" b="1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i="1" u="none" strike="noStrike" dirty="0">
                          <a:effectLst/>
                        </a:rPr>
                        <a:t>Universal</a:t>
                      </a:r>
                      <a:endParaRPr lang="en-AU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i="1" u="none" strike="noStrike" dirty="0">
                          <a:effectLst/>
                        </a:rPr>
                        <a:t>General</a:t>
                      </a:r>
                      <a:endParaRPr lang="en-AU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BA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000" i="1" u="none" strike="noStrike" dirty="0">
                          <a:effectLst/>
                        </a:rPr>
                        <a:t>Specific</a:t>
                      </a:r>
                      <a:endParaRPr lang="en-AU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659" marR="8659" marT="7872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336321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CE11E0DE-8684-8060-0DBA-49C4EDDCF2CA}"/>
              </a:ext>
            </a:extLst>
          </p:cNvPr>
          <p:cNvGrpSpPr/>
          <p:nvPr/>
        </p:nvGrpSpPr>
        <p:grpSpPr>
          <a:xfrm>
            <a:off x="1895032" y="2350546"/>
            <a:ext cx="3400040" cy="707886"/>
            <a:chOff x="487160" y="570285"/>
            <a:chExt cx="3400040" cy="70788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A8950D2-20D3-5CA4-19B0-2862B137AADE}"/>
                </a:ext>
              </a:extLst>
            </p:cNvPr>
            <p:cNvSpPr txBox="1"/>
            <p:nvPr/>
          </p:nvSpPr>
          <p:spPr>
            <a:xfrm>
              <a:off x="2036661" y="570285"/>
              <a:ext cx="185053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AU" sz="1000" b="1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Relevance Class (DRC)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000" i="1" u="none" strike="noStrike" kern="0" cap="none" spc="0" normalizeH="0" baseline="0" noProof="0" dirty="0">
                  <a:ln>
                    <a:noFill/>
                  </a:ln>
                  <a:solidFill>
                    <a:srgbClr val="1F77B4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A-Primary;</a:t>
              </a:r>
              <a:r>
                <a:rPr kumimoji="0" lang="en-AU" sz="100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 </a:t>
              </a:r>
              <a:r>
                <a:rPr kumimoji="0" lang="en-AU" sz="1000" i="1" u="none" strike="noStrike" kern="0" cap="none" spc="0" normalizeH="0" baseline="0" noProof="0" dirty="0">
                  <a:ln>
                    <a:noFill/>
                  </a:ln>
                  <a:solidFill>
                    <a:srgbClr val="17BECF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B-Supporting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2CA02C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C-Supplemental;</a:t>
              </a:r>
              <a:r>
                <a:rPr lang="en-AU" sz="1000" i="1" kern="0" dirty="0">
                  <a:latin typeface="Aptos Light" panose="020B0004020202020204" pitchFamily="34" charset="0"/>
                </a:rPr>
                <a:t> </a:t>
              </a:r>
              <a:r>
                <a:rPr kumimoji="0" lang="en-AU" sz="1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S-Services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U-Unclassified</a:t>
              </a:r>
              <a:r>
                <a:rPr lang="en-AU" sz="1000" i="1" kern="0" dirty="0">
                  <a:latin typeface="Aptos Light" panose="020B0004020202020204" pitchFamily="34" charset="0"/>
                </a:rPr>
                <a:t>; </a:t>
              </a:r>
              <a:r>
                <a:rPr kumimoji="0" lang="en-AU" sz="10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Light" panose="020B0004020202020204" pitchFamily="34" charset="0"/>
                </a:rPr>
                <a:t>F-Framework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0C12BA9-B47F-3F8E-3961-935B8AD7EA78}"/>
                </a:ext>
              </a:extLst>
            </p:cNvPr>
            <p:cNvGrpSpPr/>
            <p:nvPr/>
          </p:nvGrpSpPr>
          <p:grpSpPr>
            <a:xfrm>
              <a:off x="487160" y="570285"/>
              <a:ext cx="1483098" cy="659203"/>
              <a:chOff x="487160" y="570285"/>
              <a:chExt cx="1483098" cy="659203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17FF632-35C9-9CBB-B61C-3763F27C9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709" y="823563"/>
                <a:ext cx="1368000" cy="405925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721E85-9880-6328-BA8F-DBD8A54F7CE3}"/>
                  </a:ext>
                </a:extLst>
              </p:cNvPr>
              <p:cNvSpPr txBox="1"/>
              <p:nvPr/>
            </p:nvSpPr>
            <p:spPr>
              <a:xfrm>
                <a:off x="487160" y="570285"/>
                <a:ext cx="1483098" cy="2462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AU" sz="1000" b="1" dirty="0">
                    <a:latin typeface="Aptos Light" panose="020B0004020202020204" pitchFamily="34" charset="0"/>
                  </a:rPr>
                  <a:t>Easier – Better - Smarter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CC9F0E-6058-EDE3-2350-65F4045AB394}"/>
              </a:ext>
            </a:extLst>
          </p:cNvPr>
          <p:cNvGrpSpPr/>
          <p:nvPr/>
        </p:nvGrpSpPr>
        <p:grpSpPr>
          <a:xfrm>
            <a:off x="1857872" y="3182951"/>
            <a:ext cx="3240000" cy="2160000"/>
            <a:chOff x="6132407" y="2080098"/>
            <a:chExt cx="3240000" cy="216000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9E60F17-8EC9-7B2B-74F3-701B0EA6A1FB}"/>
                </a:ext>
              </a:extLst>
            </p:cNvPr>
            <p:cNvGrpSpPr/>
            <p:nvPr/>
          </p:nvGrpSpPr>
          <p:grpSpPr>
            <a:xfrm>
              <a:off x="6509481" y="2145092"/>
              <a:ext cx="2727225" cy="2022100"/>
              <a:chOff x="6509481" y="1468817"/>
              <a:chExt cx="2727225" cy="202210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6EBA4C9-939E-4C31-DE12-4C78E1989761}"/>
                  </a:ext>
                </a:extLst>
              </p:cNvPr>
              <p:cNvSpPr/>
              <p:nvPr/>
            </p:nvSpPr>
            <p:spPr>
              <a:xfrm>
                <a:off x="6509481" y="1468817"/>
                <a:ext cx="1080000" cy="14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AU" sz="1000" dirty="0">
                    <a:latin typeface="Aptos Light" panose="020B000402020202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Step AX.BGN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511917-8053-270F-7A21-DC580F0B5B85}"/>
                  </a:ext>
                </a:extLst>
              </p:cNvPr>
              <p:cNvSpPr/>
              <p:nvPr/>
            </p:nvSpPr>
            <p:spPr>
              <a:xfrm>
                <a:off x="6815706" y="2101867"/>
                <a:ext cx="1080000" cy="14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AU" sz="1000" dirty="0">
                    <a:latin typeface="Aptos Light" panose="020B000402020202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Step AX.MRG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0A67183-6BD8-A74B-1D20-FBA3511712EC}"/>
                  </a:ext>
                </a:extLst>
              </p:cNvPr>
              <p:cNvSpPr/>
              <p:nvPr/>
            </p:nvSpPr>
            <p:spPr>
              <a:xfrm>
                <a:off x="8156706" y="3346917"/>
                <a:ext cx="1080000" cy="14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AU" sz="1000" dirty="0">
                    <a:latin typeface="Aptos Light" panose="020B000402020202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Step AX.END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A23331A-B8D1-4945-FC63-BF9586F1FBEF}"/>
                  </a:ext>
                </a:extLst>
              </p:cNvPr>
              <p:cNvGrpSpPr/>
              <p:nvPr/>
            </p:nvGrpSpPr>
            <p:grpSpPr>
              <a:xfrm>
                <a:off x="6671406" y="1677342"/>
                <a:ext cx="1980000" cy="360000"/>
                <a:chOff x="3801826" y="2960165"/>
                <a:chExt cx="1980000" cy="360000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8758DE4-0B9F-6D02-D418-0DC811666235}"/>
                    </a:ext>
                  </a:extLst>
                </p:cNvPr>
                <p:cNvSpPr/>
                <p:nvPr/>
              </p:nvSpPr>
              <p:spPr>
                <a:xfrm>
                  <a:off x="3801826" y="2960165"/>
                  <a:ext cx="1980000" cy="36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AU" sz="1000" dirty="0"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Step AX.REF</a:t>
                  </a:r>
                </a:p>
              </p:txBody>
            </p:sp>
            <p:sp>
              <p:nvSpPr>
                <p:cNvPr id="51" name="Arrow: Pentagon 50">
                  <a:extLst>
                    <a:ext uri="{FF2B5EF4-FFF2-40B4-BE49-F238E27FC236}">
                      <a16:creationId xmlns:a16="http://schemas.microsoft.com/office/drawing/2014/main" id="{C82CF48B-24B2-9FD4-DB00-8532B5914A71}"/>
                    </a:ext>
                  </a:extLst>
                </p:cNvPr>
                <p:cNvSpPr/>
                <p:nvPr/>
              </p:nvSpPr>
              <p:spPr>
                <a:xfrm>
                  <a:off x="3900279" y="3144843"/>
                  <a:ext cx="1260000" cy="144000"/>
                </a:xfrm>
                <a:prstGeom prst="homePlate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AU" sz="1000" dirty="0">
                      <a:solidFill>
                        <a:schemeClr val="dk1"/>
                      </a:solidFill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Process P1 to P5</a:t>
                  </a: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B4C96AB-CDE3-5A87-F765-8F266163A42F}"/>
                  </a:ext>
                </a:extLst>
              </p:cNvPr>
              <p:cNvGrpSpPr/>
              <p:nvPr/>
            </p:nvGrpSpPr>
            <p:grpSpPr>
              <a:xfrm>
                <a:off x="7036206" y="2310392"/>
                <a:ext cx="1980000" cy="972000"/>
                <a:chOff x="3801826" y="3612338"/>
                <a:chExt cx="1980000" cy="972000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24503182-BCF8-74B9-9EA4-8562C096B6C2}"/>
                    </a:ext>
                  </a:extLst>
                </p:cNvPr>
                <p:cNvSpPr/>
                <p:nvPr/>
              </p:nvSpPr>
              <p:spPr>
                <a:xfrm>
                  <a:off x="3801826" y="3612338"/>
                  <a:ext cx="1980000" cy="97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AU" sz="1000" dirty="0"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Step AX.TRN</a:t>
                  </a:r>
                </a:p>
              </p:txBody>
            </p:sp>
            <p:sp>
              <p:nvSpPr>
                <p:cNvPr id="45" name="Arrow: Pentagon 44">
                  <a:extLst>
                    <a:ext uri="{FF2B5EF4-FFF2-40B4-BE49-F238E27FC236}">
                      <a16:creationId xmlns:a16="http://schemas.microsoft.com/office/drawing/2014/main" id="{C9629233-ACA7-AB4D-BF2D-22BE468E8C0E}"/>
                    </a:ext>
                  </a:extLst>
                </p:cNvPr>
                <p:cNvSpPr/>
                <p:nvPr/>
              </p:nvSpPr>
              <p:spPr>
                <a:xfrm>
                  <a:off x="3900279" y="3787895"/>
                  <a:ext cx="1260000" cy="144000"/>
                </a:xfrm>
                <a:prstGeom prst="homePlate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AU" sz="1000" dirty="0">
                      <a:solidFill>
                        <a:schemeClr val="dk1"/>
                      </a:solidFill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Process P1</a:t>
                  </a:r>
                </a:p>
              </p:txBody>
            </p:sp>
            <p:sp>
              <p:nvSpPr>
                <p:cNvPr id="46" name="Arrow: Pentagon 45">
                  <a:extLst>
                    <a:ext uri="{FF2B5EF4-FFF2-40B4-BE49-F238E27FC236}">
                      <a16:creationId xmlns:a16="http://schemas.microsoft.com/office/drawing/2014/main" id="{18316092-A11C-2DED-B2A6-DAF562F90113}"/>
                    </a:ext>
                  </a:extLst>
                </p:cNvPr>
                <p:cNvSpPr/>
                <p:nvPr/>
              </p:nvSpPr>
              <p:spPr>
                <a:xfrm>
                  <a:off x="3897076" y="3968934"/>
                  <a:ext cx="1800000" cy="576000"/>
                </a:xfrm>
                <a:prstGeom prst="homePlate">
                  <a:avLst>
                    <a:gd name="adj" fmla="val 15501"/>
                  </a:avLst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AU" sz="1000" dirty="0">
                      <a:solidFill>
                        <a:schemeClr val="dk1"/>
                      </a:solidFill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Process P5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0E448FD-7AB4-70A9-172B-89A7E0FB5F23}"/>
                    </a:ext>
                  </a:extLst>
                </p:cNvPr>
                <p:cNvSpPr/>
                <p:nvPr/>
              </p:nvSpPr>
              <p:spPr>
                <a:xfrm>
                  <a:off x="3946465" y="4140763"/>
                  <a:ext cx="1620000" cy="3600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AU" sz="1000" dirty="0">
                      <a:solidFill>
                        <a:schemeClr val="dk1"/>
                      </a:solidFill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Group AX.P5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CB3744BB-FDA9-59A9-A0EF-A469648A98E4}"/>
                    </a:ext>
                  </a:extLst>
                </p:cNvPr>
                <p:cNvSpPr/>
                <p:nvPr/>
              </p:nvSpPr>
              <p:spPr>
                <a:xfrm>
                  <a:off x="4048802" y="4320868"/>
                  <a:ext cx="648000" cy="144000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sz="1000" dirty="0">
                      <a:solidFill>
                        <a:schemeClr val="bg1"/>
                      </a:solidFill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Action</a:t>
                  </a: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79E110D3-0596-BE19-A98C-3964A4C1F094}"/>
                    </a:ext>
                  </a:extLst>
                </p:cNvPr>
                <p:cNvSpPr/>
                <p:nvPr/>
              </p:nvSpPr>
              <p:spPr>
                <a:xfrm>
                  <a:off x="4793810" y="4320868"/>
                  <a:ext cx="648000" cy="144000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sz="1000" dirty="0">
                      <a:solidFill>
                        <a:schemeClr val="bg1"/>
                      </a:solidFill>
                      <a:latin typeface="Aptos Light" panose="020B000402020202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Action</a:t>
                  </a:r>
                </a:p>
              </p:txBody>
            </p:sp>
          </p:grp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28717D-9500-22B4-DB47-BADD0E4F77C4}"/>
                </a:ext>
              </a:extLst>
            </p:cNvPr>
            <p:cNvSpPr/>
            <p:nvPr/>
          </p:nvSpPr>
          <p:spPr>
            <a:xfrm>
              <a:off x="6132407" y="2080098"/>
              <a:ext cx="3240000" cy="2160000"/>
            </a:xfrm>
            <a:prstGeom prst="rect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vert270" rtlCol="0" anchor="t"/>
            <a:lstStyle/>
            <a:p>
              <a:pPr algn="ctr"/>
              <a:r>
                <a:rPr lang="en-AU" sz="1000" b="1" dirty="0">
                  <a:solidFill>
                    <a:schemeClr val="dk1"/>
                  </a:solidFill>
                  <a:latin typeface="Aptos Light" panose="020B00040202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Schedule: Class \ Stage \ Process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2AC021F-6822-AF52-BD65-F339CA2EAD7D}"/>
              </a:ext>
            </a:extLst>
          </p:cNvPr>
          <p:cNvGrpSpPr/>
          <p:nvPr/>
        </p:nvGrpSpPr>
        <p:grpSpPr>
          <a:xfrm>
            <a:off x="1770162" y="1837015"/>
            <a:ext cx="1611568" cy="410832"/>
            <a:chOff x="855951" y="2495151"/>
            <a:chExt cx="1611568" cy="4108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54EBB6B-3A3B-446C-4348-56B1372B74AE}"/>
                </a:ext>
              </a:extLst>
            </p:cNvPr>
            <p:cNvSpPr txBox="1"/>
            <p:nvPr/>
          </p:nvSpPr>
          <p:spPr>
            <a:xfrm>
              <a:off x="1505396" y="2495151"/>
              <a:ext cx="962123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AU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Transforming</a:t>
              </a:r>
            </a:p>
            <a:p>
              <a:r>
                <a:rPr lang="en-AU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Data Analytics</a:t>
              </a:r>
              <a:endParaRPr lang="en-US" sz="1000" dirty="0">
                <a:latin typeface="Aptos Light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18B34046-E01B-272D-34CF-E73567DEC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951" y="2545983"/>
              <a:ext cx="696316" cy="360000"/>
            </a:xfrm>
            <a:prstGeom prst="rect">
              <a:avLst/>
            </a:prstGeom>
          </p:spPr>
        </p:pic>
      </p:grpSp>
      <p:sp>
        <p:nvSpPr>
          <p:cNvPr id="55" name="Double Bracket 54">
            <a:extLst>
              <a:ext uri="{FF2B5EF4-FFF2-40B4-BE49-F238E27FC236}">
                <a16:creationId xmlns:a16="http://schemas.microsoft.com/office/drawing/2014/main" id="{B29688DA-81B9-F24C-BB03-44DD2AC900E8}"/>
              </a:ext>
            </a:extLst>
          </p:cNvPr>
          <p:cNvSpPr/>
          <p:nvPr/>
        </p:nvSpPr>
        <p:spPr>
          <a:xfrm rot="5400000">
            <a:off x="8100737" y="5234776"/>
            <a:ext cx="5940000" cy="180000"/>
          </a:xfrm>
          <a:prstGeom prst="bracketPair">
            <a:avLst>
              <a:gd name="adj" fmla="val 24752"/>
            </a:avLst>
          </a:prstGeom>
          <a:solidFill>
            <a:srgbClr val="E9F6FB"/>
          </a:solidFill>
          <a:ln w="28575" cap="rnd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b="1" kern="0" dirty="0">
                <a:latin typeface="Aptos Light" panose="020B0004020202020204" pitchFamily="34" charset="0"/>
              </a:rPr>
              <a:t>Utility </a:t>
            </a:r>
            <a:r>
              <a:rPr kumimoji="0" lang="en-AU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 [Stage 0 - Prepare  &amp; </a:t>
            </a:r>
            <a:r>
              <a:rPr lang="en-AU" sz="1000" b="1" kern="0" dirty="0">
                <a:latin typeface="Aptos Light" panose="020B0004020202020204" pitchFamily="34" charset="0"/>
              </a:rPr>
              <a:t>9 </a:t>
            </a:r>
            <a:r>
              <a:rPr kumimoji="0" lang="en-AU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- Finalize]</a:t>
            </a: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</a:rPr>
              <a:t>  Metadata, Log, Config, Usage, Templates, and Utilities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C19DDC9-FBA7-5938-1BB8-76A2EA0E6BE2}"/>
              </a:ext>
            </a:extLst>
          </p:cNvPr>
          <p:cNvGrpSpPr/>
          <p:nvPr/>
        </p:nvGrpSpPr>
        <p:grpSpPr>
          <a:xfrm>
            <a:off x="7953253" y="1836408"/>
            <a:ext cx="1374473" cy="400110"/>
            <a:chOff x="7953253" y="1836408"/>
            <a:chExt cx="1374473" cy="40011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11176FC-B89B-5F16-FBA6-422B8E204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53253" y="1836408"/>
              <a:ext cx="381010" cy="39600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B356306-7E9A-56C7-76A1-EB7B6F67E8DB}"/>
                </a:ext>
              </a:extLst>
            </p:cNvPr>
            <p:cNvSpPr txBox="1"/>
            <p:nvPr/>
          </p:nvSpPr>
          <p:spPr>
            <a:xfrm>
              <a:off x="8327131" y="1836408"/>
              <a:ext cx="1000595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Frontier</a:t>
              </a:r>
            </a:p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Analytics Team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A37796-DFCD-0566-529C-1C48D13389E1}"/>
              </a:ext>
            </a:extLst>
          </p:cNvPr>
          <p:cNvGrpSpPr/>
          <p:nvPr/>
        </p:nvGrpSpPr>
        <p:grpSpPr>
          <a:xfrm>
            <a:off x="9398623" y="1836408"/>
            <a:ext cx="1386265" cy="400110"/>
            <a:chOff x="7895501" y="170447"/>
            <a:chExt cx="1386265" cy="40011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3FE929A-F013-AB69-68BA-F04CC8CD9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95501" y="170447"/>
              <a:ext cx="396876" cy="396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A6B5AF8-99EA-834C-0191-8166A04A062A}"/>
                </a:ext>
              </a:extLst>
            </p:cNvPr>
            <p:cNvSpPr txBox="1"/>
            <p:nvPr/>
          </p:nvSpPr>
          <p:spPr>
            <a:xfrm>
              <a:off x="8273157" y="170447"/>
              <a:ext cx="1008609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Transformation</a:t>
              </a:r>
            </a:p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Effort Units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117FEAA-C393-D9EB-9EC1-44D14C45A318}"/>
              </a:ext>
            </a:extLst>
          </p:cNvPr>
          <p:cNvGrpSpPr/>
          <p:nvPr/>
        </p:nvGrpSpPr>
        <p:grpSpPr>
          <a:xfrm>
            <a:off x="3625040" y="1836408"/>
            <a:ext cx="1285432" cy="400110"/>
            <a:chOff x="2177771" y="2290965"/>
            <a:chExt cx="1285432" cy="40011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C410D8C-7E99-478B-139C-205CE7AE70AB}"/>
                </a:ext>
              </a:extLst>
            </p:cNvPr>
            <p:cNvSpPr txBox="1"/>
            <p:nvPr/>
          </p:nvSpPr>
          <p:spPr>
            <a:xfrm>
              <a:off x="2613290" y="2290965"/>
              <a:ext cx="849913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Cherry Tree </a:t>
              </a:r>
            </a:p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Architecture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90A48A4-F9AE-2FD8-61EF-A0D679171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77771" y="2293020"/>
              <a:ext cx="396791" cy="396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792BE06-70B0-7DE6-8982-912A1A7E77FF}"/>
              </a:ext>
            </a:extLst>
          </p:cNvPr>
          <p:cNvGrpSpPr/>
          <p:nvPr/>
        </p:nvGrpSpPr>
        <p:grpSpPr>
          <a:xfrm>
            <a:off x="5153782" y="1836408"/>
            <a:ext cx="1212307" cy="400110"/>
            <a:chOff x="926736" y="2290965"/>
            <a:chExt cx="1212307" cy="40011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11F5D32-59D0-643F-E6FD-939A81EB2E9F}"/>
                </a:ext>
              </a:extLst>
            </p:cNvPr>
            <p:cNvSpPr txBox="1"/>
            <p:nvPr/>
          </p:nvSpPr>
          <p:spPr>
            <a:xfrm>
              <a:off x="1322794" y="2290965"/>
              <a:ext cx="816249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Bloom</a:t>
              </a:r>
            </a:p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 Assistant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9990C19E-52F4-8A31-0D73-EB5D5BF99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6736" y="2293020"/>
              <a:ext cx="418354" cy="3960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412C40E-7FEA-6044-3294-BFB4C1E6E6FE}"/>
              </a:ext>
            </a:extLst>
          </p:cNvPr>
          <p:cNvGrpSpPr/>
          <p:nvPr/>
        </p:nvGrpSpPr>
        <p:grpSpPr>
          <a:xfrm>
            <a:off x="6606542" y="1836408"/>
            <a:ext cx="1097303" cy="409199"/>
            <a:chOff x="5103420" y="170447"/>
            <a:chExt cx="1097303" cy="409199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886D7DE5-6CBF-EE8F-ADEF-214B634E4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03420" y="183646"/>
              <a:ext cx="396000" cy="39600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9378F32-10D0-8A20-6C2D-3C529C6EED1F}"/>
                </a:ext>
              </a:extLst>
            </p:cNvPr>
            <p:cNvSpPr txBox="1"/>
            <p:nvPr/>
          </p:nvSpPr>
          <p:spPr>
            <a:xfrm>
              <a:off x="5483860" y="170447"/>
              <a:ext cx="716863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Execution</a:t>
              </a:r>
            </a:p>
            <a:p>
              <a:r>
                <a:rPr lang="en-US" sz="1000" dirty="0">
                  <a:latin typeface="Aptos Light" panose="020B00040202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Utilities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DDB273-C395-E9E8-C53A-5A3385346782}"/>
              </a:ext>
            </a:extLst>
          </p:cNvPr>
          <p:cNvGrpSpPr/>
          <p:nvPr/>
        </p:nvGrpSpPr>
        <p:grpSpPr>
          <a:xfrm>
            <a:off x="1842742" y="5878426"/>
            <a:ext cx="3318464" cy="2344576"/>
            <a:chOff x="338385" y="1463328"/>
            <a:chExt cx="3318464" cy="234457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25EE1B5-854E-522E-38F3-2B6948E91C0E}"/>
                </a:ext>
              </a:extLst>
            </p:cNvPr>
            <p:cNvGrpSpPr/>
            <p:nvPr/>
          </p:nvGrpSpPr>
          <p:grpSpPr>
            <a:xfrm>
              <a:off x="338385" y="1463328"/>
              <a:ext cx="1474261" cy="2344576"/>
              <a:chOff x="10029167" y="4055925"/>
              <a:chExt cx="1474261" cy="2344576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ABB5AE6D-06E6-5659-F09B-43DBD0FD6A5E}"/>
                  </a:ext>
                </a:extLst>
              </p:cNvPr>
              <p:cNvGrpSpPr/>
              <p:nvPr/>
            </p:nvGrpSpPr>
            <p:grpSpPr>
              <a:xfrm>
                <a:off x="10034414" y="4055925"/>
                <a:ext cx="1453945" cy="400110"/>
                <a:chOff x="10034414" y="3998050"/>
                <a:chExt cx="1453945" cy="400110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A6D15976-25B7-F5D4-1951-B856DECDCE40}"/>
                    </a:ext>
                  </a:extLst>
                </p:cNvPr>
                <p:cNvSpPr txBox="1"/>
                <p:nvPr/>
              </p:nvSpPr>
              <p:spPr>
                <a:xfrm>
                  <a:off x="10315428" y="3998050"/>
                  <a:ext cx="1172931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AU" sz="1000" b="1" i="1" dirty="0"/>
                    <a:t>Artifact Quality Score (AQS)</a:t>
                  </a:r>
                </a:p>
              </p:txBody>
            </p:sp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4EB5819C-BBA5-949A-A243-4ED36104D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34414" y="4054105"/>
                  <a:ext cx="298388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4B83AA9C-7B8B-0DA5-A24E-8F1B7A7E6C49}"/>
                  </a:ext>
                </a:extLst>
              </p:cNvPr>
              <p:cNvGrpSpPr/>
              <p:nvPr/>
            </p:nvGrpSpPr>
            <p:grpSpPr>
              <a:xfrm>
                <a:off x="10029750" y="6000391"/>
                <a:ext cx="1473678" cy="400110"/>
                <a:chOff x="10029750" y="6000391"/>
                <a:chExt cx="1473678" cy="40011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E0D8FEFB-AA56-5984-9F23-0944D8759232}"/>
                    </a:ext>
                  </a:extLst>
                </p:cNvPr>
                <p:cNvSpPr txBox="1"/>
                <p:nvPr/>
              </p:nvSpPr>
              <p:spPr>
                <a:xfrm>
                  <a:off x="10315428" y="6000391"/>
                  <a:ext cx="1188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AU" sz="1000" i="1" dirty="0"/>
                    <a:t>AQS1: Weak</a:t>
                  </a:r>
                </a:p>
                <a:p>
                  <a:r>
                    <a:rPr lang="en-AU" sz="1000" i="1" dirty="0"/>
                    <a:t> It might work</a:t>
                  </a:r>
                </a:p>
              </p:txBody>
            </p:sp>
            <p:pic>
              <p:nvPicPr>
                <p:cNvPr id="105" name="Picture 104">
                  <a:extLst>
                    <a:ext uri="{FF2B5EF4-FFF2-40B4-BE49-F238E27FC236}">
                      <a16:creationId xmlns:a16="http://schemas.microsoft.com/office/drawing/2014/main" id="{E605465F-CCFB-EEC4-1433-25DB9100B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29750" y="6056446"/>
                  <a:ext cx="297328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C3759520-AE50-92EE-DCAE-E6219373468C}"/>
                  </a:ext>
                </a:extLst>
              </p:cNvPr>
              <p:cNvGrpSpPr/>
              <p:nvPr/>
            </p:nvGrpSpPr>
            <p:grpSpPr>
              <a:xfrm>
                <a:off x="10029167" y="5614760"/>
                <a:ext cx="1474261" cy="400110"/>
                <a:chOff x="10029167" y="5602637"/>
                <a:chExt cx="1474261" cy="400110"/>
              </a:xfrm>
            </p:grpSpPr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42D635D9-F8DE-CBA6-292D-30DEFF2C4BA0}"/>
                    </a:ext>
                  </a:extLst>
                </p:cNvPr>
                <p:cNvSpPr txBox="1"/>
                <p:nvPr/>
              </p:nvSpPr>
              <p:spPr>
                <a:xfrm>
                  <a:off x="10315428" y="5602637"/>
                  <a:ext cx="1188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AU" sz="1000" i="1" dirty="0"/>
                    <a:t>AQS2: Fair</a:t>
                  </a:r>
                </a:p>
                <a:p>
                  <a:r>
                    <a:rPr lang="en-AU" sz="1000" i="1" dirty="0"/>
                    <a:t>It works</a:t>
                  </a:r>
                </a:p>
              </p:txBody>
            </p:sp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2771A8E3-2880-FECD-25E5-E7E10E02AE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29167" y="5653971"/>
                  <a:ext cx="298494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585E63CF-C16A-4C75-FD7D-6349B92A01B7}"/>
                  </a:ext>
                </a:extLst>
              </p:cNvPr>
              <p:cNvGrpSpPr/>
              <p:nvPr/>
            </p:nvGrpSpPr>
            <p:grpSpPr>
              <a:xfrm>
                <a:off x="10029750" y="5224410"/>
                <a:ext cx="1473678" cy="400110"/>
                <a:chOff x="10029750" y="5201226"/>
                <a:chExt cx="1473678" cy="400110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3BA675C-3BDD-E591-29A9-3C6908C91021}"/>
                    </a:ext>
                  </a:extLst>
                </p:cNvPr>
                <p:cNvSpPr txBox="1"/>
                <p:nvPr/>
              </p:nvSpPr>
              <p:spPr>
                <a:xfrm>
                  <a:off x="10315428" y="5201226"/>
                  <a:ext cx="1188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AU" sz="1000" i="1" dirty="0"/>
                    <a:t>AQS3: Good</a:t>
                  </a:r>
                </a:p>
                <a:p>
                  <a:r>
                    <a:rPr lang="en-AU" sz="1000" i="1" dirty="0"/>
                    <a:t>It works well</a:t>
                  </a:r>
                </a:p>
              </p:txBody>
            </p:sp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301C9474-E38A-4780-7F9D-7433762C9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029750" y="5251498"/>
                  <a:ext cx="297328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81F601E7-7724-BE4E-7B63-B6DB0499D73D}"/>
                  </a:ext>
                </a:extLst>
              </p:cNvPr>
              <p:cNvGrpSpPr/>
              <p:nvPr/>
            </p:nvGrpSpPr>
            <p:grpSpPr>
              <a:xfrm>
                <a:off x="10029167" y="4830344"/>
                <a:ext cx="1474261" cy="400110"/>
                <a:chOff x="10029167" y="4790316"/>
                <a:chExt cx="1474261" cy="400110"/>
              </a:xfrm>
            </p:grpSpPr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EFE897DA-576C-5EE2-081B-3B646DDCA3A1}"/>
                    </a:ext>
                  </a:extLst>
                </p:cNvPr>
                <p:cNvSpPr txBox="1"/>
                <p:nvPr/>
              </p:nvSpPr>
              <p:spPr>
                <a:xfrm>
                  <a:off x="10315428" y="4790316"/>
                  <a:ext cx="1188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AU" sz="1000" i="1" dirty="0"/>
                    <a:t>AQS4: Strong</a:t>
                  </a:r>
                </a:p>
                <a:p>
                  <a:r>
                    <a:rPr lang="en-AU" sz="1000" i="1" dirty="0"/>
                    <a:t> It works reliably</a:t>
                  </a:r>
                </a:p>
              </p:txBody>
            </p:sp>
            <p:pic>
              <p:nvPicPr>
                <p:cNvPr id="99" name="Picture 98">
                  <a:extLst>
                    <a:ext uri="{FF2B5EF4-FFF2-40B4-BE49-F238E27FC236}">
                      <a16:creationId xmlns:a16="http://schemas.microsoft.com/office/drawing/2014/main" id="{53EDE67A-2277-A909-744E-277B006AB9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29167" y="4849025"/>
                  <a:ext cx="298494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A890919-9ABC-37E0-2020-CEB60C9D5F14}"/>
                  </a:ext>
                </a:extLst>
              </p:cNvPr>
              <p:cNvGrpSpPr/>
              <p:nvPr/>
            </p:nvGrpSpPr>
            <p:grpSpPr>
              <a:xfrm>
                <a:off x="10029750" y="4444715"/>
                <a:ext cx="1473678" cy="400110"/>
                <a:chOff x="10029750" y="4393658"/>
                <a:chExt cx="1473678" cy="400110"/>
              </a:xfrm>
            </p:grpSpPr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030015E-E508-FF5F-0657-CF02A1E3371F}"/>
                    </a:ext>
                  </a:extLst>
                </p:cNvPr>
                <p:cNvSpPr txBox="1"/>
                <p:nvPr/>
              </p:nvSpPr>
              <p:spPr>
                <a:xfrm>
                  <a:off x="10315428" y="4393658"/>
                  <a:ext cx="1188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AU" sz="1000" i="1" dirty="0"/>
                    <a:t>AQS5: Excellent </a:t>
                  </a:r>
                </a:p>
                <a:p>
                  <a:r>
                    <a:rPr lang="en-AU" sz="1000" i="1" dirty="0"/>
                    <a:t>It works efficiently</a:t>
                  </a:r>
                </a:p>
              </p:txBody>
            </p:sp>
            <p:pic>
              <p:nvPicPr>
                <p:cNvPr id="97" name="Picture 96">
                  <a:extLst>
                    <a:ext uri="{FF2B5EF4-FFF2-40B4-BE49-F238E27FC236}">
                      <a16:creationId xmlns:a16="http://schemas.microsoft.com/office/drawing/2014/main" id="{5AF3BEE2-9840-8065-5C01-78D02F5EC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29750" y="4446552"/>
                  <a:ext cx="297328" cy="28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34E6F59-AF49-7BB9-DA88-E4AFD24C1146}"/>
                </a:ext>
              </a:extLst>
            </p:cNvPr>
            <p:cNvGrpSpPr/>
            <p:nvPr/>
          </p:nvGrpSpPr>
          <p:grpSpPr>
            <a:xfrm>
              <a:off x="1761029" y="1464659"/>
              <a:ext cx="1895820" cy="2343245"/>
              <a:chOff x="1905809" y="1464659"/>
              <a:chExt cx="1895820" cy="234324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EC89889F-5222-9513-5002-2E69EA77C607}"/>
                  </a:ext>
                </a:extLst>
              </p:cNvPr>
              <p:cNvGrpSpPr/>
              <p:nvPr/>
            </p:nvGrpSpPr>
            <p:grpSpPr>
              <a:xfrm>
                <a:off x="1905809" y="1853286"/>
                <a:ext cx="1895820" cy="400110"/>
                <a:chOff x="1905809" y="1878721"/>
                <a:chExt cx="1895820" cy="400110"/>
              </a:xfrm>
            </p:grpSpPr>
            <p:pic>
              <p:nvPicPr>
                <p:cNvPr id="88" name="Graphic 12" descr="Arrow Up with solid fill">
                  <a:extLst>
                    <a:ext uri="{FF2B5EF4-FFF2-40B4-BE49-F238E27FC236}">
                      <a16:creationId xmlns:a16="http://schemas.microsoft.com/office/drawing/2014/main" id="{E8A32D00-6070-BBE7-22CC-990B17ADA3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5809" y="1934776"/>
                  <a:ext cx="288000" cy="288000"/>
                </a:xfrm>
                <a:prstGeom prst="rect">
                  <a:avLst/>
                </a:prstGeom>
              </p:spPr>
            </p:pic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5E82993-C05A-4184-E461-7555A16AD5C7}"/>
                    </a:ext>
                  </a:extLst>
                </p:cNvPr>
                <p:cNvSpPr txBox="1"/>
                <p:nvPr/>
              </p:nvSpPr>
              <p:spPr>
                <a:xfrm>
                  <a:off x="2181629" y="1878721"/>
                  <a:ext cx="1620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>
                    <a:buNone/>
                    <a:defRPr sz="1000"/>
                  </a:lvl1pPr>
                </a:lstStyle>
                <a:p>
                  <a:r>
                    <a:rPr lang="en-AU" i="1" dirty="0"/>
                    <a:t>LCL1: Direct source with minimal conform.</a:t>
                  </a: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98749E0C-0943-025B-E55F-BD975970B8B5}"/>
                  </a:ext>
                </a:extLst>
              </p:cNvPr>
              <p:cNvGrpSpPr/>
              <p:nvPr/>
            </p:nvGrpSpPr>
            <p:grpSpPr>
              <a:xfrm>
                <a:off x="1905809" y="2241913"/>
                <a:ext cx="1895820" cy="400110"/>
                <a:chOff x="1905809" y="2255724"/>
                <a:chExt cx="1895820" cy="400110"/>
              </a:xfrm>
            </p:grpSpPr>
            <p:pic>
              <p:nvPicPr>
                <p:cNvPr id="86" name="Graphic 3" descr="Cause And Effect with solid fill">
                  <a:extLst>
                    <a:ext uri="{FF2B5EF4-FFF2-40B4-BE49-F238E27FC236}">
                      <a16:creationId xmlns:a16="http://schemas.microsoft.com/office/drawing/2014/main" id="{3A55D3B3-2EF3-60FC-31BD-E6A5B1CBA5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5809" y="2311779"/>
                  <a:ext cx="288000" cy="288000"/>
                </a:xfrm>
                <a:prstGeom prst="rect">
                  <a:avLst/>
                </a:prstGeom>
              </p:spPr>
            </p:pic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65C03EA-AC9F-A309-4273-E2A112660E08}"/>
                    </a:ext>
                  </a:extLst>
                </p:cNvPr>
                <p:cNvSpPr txBox="1"/>
                <p:nvPr/>
              </p:nvSpPr>
              <p:spPr>
                <a:xfrm>
                  <a:off x="2181629" y="2255724"/>
                  <a:ext cx="1620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>
                    <a:buNone/>
                    <a:defRPr sz="1000"/>
                  </a:lvl1pPr>
                </a:lstStyle>
                <a:p>
                  <a:r>
                    <a:rPr lang="en-AU" i="1" dirty="0"/>
                    <a:t>LCL2: Basic row-level calculations.</a:t>
                  </a: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4E28295-A654-C6BC-2F89-C8A0C33C1EDF}"/>
                  </a:ext>
                </a:extLst>
              </p:cNvPr>
              <p:cNvGrpSpPr/>
              <p:nvPr/>
            </p:nvGrpSpPr>
            <p:grpSpPr>
              <a:xfrm>
                <a:off x="1905809" y="2630540"/>
                <a:ext cx="1895820" cy="400110"/>
                <a:chOff x="1905809" y="2632727"/>
                <a:chExt cx="1895820" cy="400110"/>
              </a:xfrm>
            </p:grpSpPr>
            <p:pic>
              <p:nvPicPr>
                <p:cNvPr id="84" name="Graphic 6" descr="Decision chart with solid fill">
                  <a:extLst>
                    <a:ext uri="{FF2B5EF4-FFF2-40B4-BE49-F238E27FC236}">
                      <a16:creationId xmlns:a16="http://schemas.microsoft.com/office/drawing/2014/main" id="{2D82C9C8-C299-2D1E-D459-192A56B5A1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5809" y="2688782"/>
                  <a:ext cx="288000" cy="288000"/>
                </a:xfrm>
                <a:prstGeom prst="rect">
                  <a:avLst/>
                </a:prstGeom>
              </p:spPr>
            </p:pic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CE9A33BD-5ED7-E5DF-6F1A-8FBE00A58EAC}"/>
                    </a:ext>
                  </a:extLst>
                </p:cNvPr>
                <p:cNvSpPr txBox="1"/>
                <p:nvPr/>
              </p:nvSpPr>
              <p:spPr>
                <a:xfrm>
                  <a:off x="2181629" y="2632727"/>
                  <a:ext cx="1620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>
                    <a:buNone/>
                    <a:defRPr sz="1000"/>
                  </a:lvl1pPr>
                </a:lstStyle>
                <a:p>
                  <a:r>
                    <a:rPr lang="en-AU" i="1" dirty="0"/>
                    <a:t>LCL3: Complex row-level calculations.</a:t>
                  </a: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A3E02C9B-73A2-F22E-5B52-B29DC48350AC}"/>
                  </a:ext>
                </a:extLst>
              </p:cNvPr>
              <p:cNvGrpSpPr/>
              <p:nvPr/>
            </p:nvGrpSpPr>
            <p:grpSpPr>
              <a:xfrm>
                <a:off x="1905809" y="3019167"/>
                <a:ext cx="1895820" cy="400110"/>
                <a:chOff x="1905809" y="3015704"/>
                <a:chExt cx="1895820" cy="400110"/>
              </a:xfrm>
            </p:grpSpPr>
            <p:pic>
              <p:nvPicPr>
                <p:cNvPr id="82" name="Graphic 81" descr="Workflow with solid fill">
                  <a:extLst>
                    <a:ext uri="{FF2B5EF4-FFF2-40B4-BE49-F238E27FC236}">
                      <a16:creationId xmlns:a16="http://schemas.microsoft.com/office/drawing/2014/main" id="{2C10BB2C-9288-3178-337B-7CCCAFEA0D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5809" y="3071759"/>
                  <a:ext cx="288000" cy="288000"/>
                </a:xfrm>
                <a:prstGeom prst="rect">
                  <a:avLst/>
                </a:prstGeom>
              </p:spPr>
            </p:pic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B81205-38E1-6B4C-C2C3-C81CAD3CE6D4}"/>
                    </a:ext>
                  </a:extLst>
                </p:cNvPr>
                <p:cNvSpPr txBox="1"/>
                <p:nvPr/>
              </p:nvSpPr>
              <p:spPr>
                <a:xfrm>
                  <a:off x="2181629" y="3015704"/>
                  <a:ext cx="1620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>
                    <a:buNone/>
                    <a:defRPr sz="1000"/>
                  </a:lvl1pPr>
                </a:lstStyle>
                <a:p>
                  <a:r>
                    <a:rPr lang="en-AU" i="1" dirty="0"/>
                    <a:t>LCL4: Complex business rules or aggregations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72EF38D4-6006-A0D9-0920-432266FED421}"/>
                  </a:ext>
                </a:extLst>
              </p:cNvPr>
              <p:cNvGrpSpPr/>
              <p:nvPr/>
            </p:nvGrpSpPr>
            <p:grpSpPr>
              <a:xfrm>
                <a:off x="1905809" y="3407794"/>
                <a:ext cx="1895820" cy="400110"/>
                <a:chOff x="1905809" y="3392708"/>
                <a:chExt cx="1895820" cy="400110"/>
              </a:xfrm>
            </p:grpSpPr>
            <p:pic>
              <p:nvPicPr>
                <p:cNvPr id="80" name="Graphic 4" descr="Treasure Map with solid fill">
                  <a:extLst>
                    <a:ext uri="{FF2B5EF4-FFF2-40B4-BE49-F238E27FC236}">
                      <a16:creationId xmlns:a16="http://schemas.microsoft.com/office/drawing/2014/main" id="{A5FDD177-9F70-F737-06E7-046CCD0053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5809" y="3448763"/>
                  <a:ext cx="288000" cy="288000"/>
                </a:xfrm>
                <a:prstGeom prst="rect">
                  <a:avLst/>
                </a:prstGeom>
              </p:spPr>
            </p:pic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F79B58E-49F7-AE1D-D619-0F4CCC667E5C}"/>
                    </a:ext>
                  </a:extLst>
                </p:cNvPr>
                <p:cNvSpPr txBox="1"/>
                <p:nvPr/>
              </p:nvSpPr>
              <p:spPr>
                <a:xfrm>
                  <a:off x="2181629" y="3392708"/>
                  <a:ext cx="1620000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>
                    <a:buNone/>
                    <a:defRPr sz="1000"/>
                  </a:lvl1pPr>
                </a:lstStyle>
                <a:p>
                  <a:r>
                    <a:rPr lang="en-AU" i="1" dirty="0"/>
                    <a:t>LCL5: Multi-step business rules or aggregations.</a:t>
                  </a: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F8FE314F-97BE-45CA-0F05-E4B38DA341A3}"/>
                  </a:ext>
                </a:extLst>
              </p:cNvPr>
              <p:cNvGrpSpPr/>
              <p:nvPr/>
            </p:nvGrpSpPr>
            <p:grpSpPr>
              <a:xfrm>
                <a:off x="1905809" y="1464659"/>
                <a:ext cx="1733777" cy="400110"/>
                <a:chOff x="1905809" y="1501718"/>
                <a:chExt cx="1733777" cy="400110"/>
              </a:xfrm>
            </p:grpSpPr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5A73F14-2271-FC07-A17B-2314EEB6BBBA}"/>
                    </a:ext>
                  </a:extLst>
                </p:cNvPr>
                <p:cNvSpPr txBox="1"/>
                <p:nvPr/>
              </p:nvSpPr>
              <p:spPr>
                <a:xfrm>
                  <a:off x="2181629" y="1501718"/>
                  <a:ext cx="1457957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buNone/>
                  </a:pPr>
                  <a:r>
                    <a:rPr lang="en-US" sz="1000" b="1" i="1" dirty="0"/>
                    <a:t>Logic Complexity Level (LCL)</a:t>
                  </a:r>
                  <a:endParaRPr lang="en-AU" sz="1000" b="1" i="1" dirty="0"/>
                </a:p>
              </p:txBody>
            </p:sp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217704E8-74B1-043A-AA19-4CE67D2D5A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5809" y="1557773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108" name="Picture 107">
            <a:extLst>
              <a:ext uri="{FF2B5EF4-FFF2-40B4-BE49-F238E27FC236}">
                <a16:creationId xmlns:a16="http://schemas.microsoft.com/office/drawing/2014/main" id="{0E4A73F1-6758-0EDC-4CA2-765DFB74C34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04721" y="7903364"/>
            <a:ext cx="288000" cy="2880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BA7B2E41-8B7F-F410-255B-F1121550232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1407" y="7124014"/>
            <a:ext cx="289455" cy="2880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E833363D-72C7-1F33-180B-BC3AE06D5CE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2862" y="2836040"/>
            <a:ext cx="288000" cy="2880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1059CB1-F3A2-BCFC-DE97-EDDCBC2D388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2134" y="5987770"/>
            <a:ext cx="288000" cy="2880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CAEBA669-C134-33FE-0921-C5AFD07FB32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2862" y="4894737"/>
            <a:ext cx="288000" cy="2880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0B84C8AC-7C3B-227D-BD61-64C11D51E62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2862" y="4101478"/>
            <a:ext cx="289455" cy="2880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3516DBD3-BC0B-8A55-AB63-1ED8186CBBC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2862" y="3415558"/>
            <a:ext cx="289455" cy="288000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9369CF1E-0847-AF96-9FE1-0F0CED20C687}"/>
              </a:ext>
            </a:extLst>
          </p:cNvPr>
          <p:cNvSpPr txBox="1"/>
          <p:nvPr/>
        </p:nvSpPr>
        <p:spPr>
          <a:xfrm>
            <a:off x="287430" y="214860"/>
            <a:ext cx="2180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V# Background</a:t>
            </a:r>
          </a:p>
        </p:txBody>
      </p:sp>
    </p:spTree>
    <p:extLst>
      <p:ext uri="{BB962C8B-B14F-4D97-AF65-F5344CB8AC3E}">
        <p14:creationId xmlns:p14="http://schemas.microsoft.com/office/powerpoint/2010/main" val="185546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15CB1E42-694D-C46A-088A-7905DC3AD40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402318" y="1540701"/>
            <a:ext cx="3056947" cy="7845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7A280-21BE-14D3-4DFE-520A24B3B260}"/>
              </a:ext>
            </a:extLst>
          </p:cNvPr>
          <p:cNvSpPr txBox="1"/>
          <p:nvPr/>
        </p:nvSpPr>
        <p:spPr>
          <a:xfrm>
            <a:off x="287430" y="214860"/>
            <a:ext cx="2229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V# Architecture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4EDA94-7A4F-C01A-E04D-DBEBCC71FCCA}"/>
              </a:ext>
            </a:extLst>
          </p:cNvPr>
          <p:cNvSpPr/>
          <p:nvPr/>
        </p:nvSpPr>
        <p:spPr>
          <a:xfrm>
            <a:off x="1291866" y="929706"/>
            <a:ext cx="10800000" cy="684000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 cap="rnd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rtlCol="0" anchor="t"/>
          <a:lstStyle/>
          <a:p>
            <a:r>
              <a:rPr lang="en-AU" sz="1200" kern="0" dirty="0">
                <a:solidFill>
                  <a:schemeClr val="tx1"/>
                </a:solidFill>
              </a:rPr>
              <a:t>		Core | Crown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E6684F-06E4-AB14-D10A-C11AF231030E}"/>
              </a:ext>
            </a:extLst>
          </p:cNvPr>
          <p:cNvSpPr/>
          <p:nvPr/>
        </p:nvSpPr>
        <p:spPr>
          <a:xfrm>
            <a:off x="1291866" y="7972035"/>
            <a:ext cx="10800000" cy="144000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txBody>
          <a:bodyPr rtlCol="0" anchor="t"/>
          <a:lstStyle/>
          <a:p>
            <a:r>
              <a:rPr lang="en-AU" sz="1200" kern="0" dirty="0"/>
              <a:t>		Lake | Root			 Original Data Object [ODO]: Raw source data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4E4BE39-BB29-31BD-5DA6-D9FF3B828551}"/>
              </a:ext>
            </a:extLst>
          </p:cNvPr>
          <p:cNvSpPr/>
          <p:nvPr/>
        </p:nvSpPr>
        <p:spPr>
          <a:xfrm>
            <a:off x="2191866" y="6381244"/>
            <a:ext cx="9000000" cy="12600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12700" cap="rnd" cmpd="sng" algn="ctr">
            <a:noFill/>
            <a:prstDash val="dash"/>
            <a:round/>
          </a:ln>
          <a:effectLst>
            <a:softEdge rad="63500"/>
          </a:effectLst>
        </p:spPr>
        <p:txBody>
          <a:bodyPr rtlCol="0" anchor="t"/>
          <a:lstStyle/>
          <a:p>
            <a:r>
              <a:rPr lang="en-AU" sz="1200" kern="0" dirty="0"/>
              <a:t>Stem | Hub			</a:t>
            </a:r>
            <a:r>
              <a:rPr lang="en-US" sz="1200" kern="0" dirty="0"/>
              <a:t> Harmonized Data Entity [HDE]: Standardized business-aligned data</a:t>
            </a:r>
            <a:endParaRPr lang="en-AU" sz="1200" kern="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6EDBE28-D4B2-3462-5387-5CAC169BA203}"/>
              </a:ext>
            </a:extLst>
          </p:cNvPr>
          <p:cNvSpPr/>
          <p:nvPr/>
        </p:nvSpPr>
        <p:spPr>
          <a:xfrm>
            <a:off x="2191866" y="4036159"/>
            <a:ext cx="9000000" cy="2160000"/>
          </a:xfrm>
          <a:prstGeom prst="roundRect">
            <a:avLst>
              <a:gd name="adj" fmla="val 6229"/>
            </a:avLst>
          </a:prstGeom>
          <a:solidFill>
            <a:schemeClr val="accent4">
              <a:lumMod val="20000"/>
              <a:lumOff val="80000"/>
              <a:alpha val="70000"/>
            </a:schemeClr>
          </a:solidFill>
          <a:ln w="12700" cap="rnd" cmpd="sng" algn="ctr">
            <a:noFill/>
            <a:prstDash val="dash"/>
            <a:round/>
          </a:ln>
          <a:effectLst>
            <a:softEdge rad="63500"/>
          </a:effectLst>
        </p:spPr>
        <p:txBody>
          <a:bodyPr rtlCol="0" anchor="t"/>
          <a:lstStyle/>
          <a:p>
            <a:r>
              <a:rPr lang="en-AU" sz="1200" kern="0" dirty="0"/>
              <a:t>Branch | Mart			</a:t>
            </a:r>
            <a:r>
              <a:rPr lang="en-US" sz="1200" kern="0" dirty="0"/>
              <a:t> Analytical Data Entity [ADE]: Business‑rule‑enriched data</a:t>
            </a:r>
            <a:endParaRPr lang="en-AU" sz="1200" kern="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369C772-28DB-2E93-70FE-B8CF0E0AE2DC}"/>
              </a:ext>
            </a:extLst>
          </p:cNvPr>
          <p:cNvSpPr/>
          <p:nvPr/>
        </p:nvSpPr>
        <p:spPr>
          <a:xfrm>
            <a:off x="2191866" y="1217803"/>
            <a:ext cx="9000000" cy="2700000"/>
          </a:xfrm>
          <a:prstGeom prst="roundRect">
            <a:avLst>
              <a:gd name="adj" fmla="val 13685"/>
            </a:avLst>
          </a:prstGeom>
          <a:solidFill>
            <a:schemeClr val="accent6">
              <a:lumMod val="20000"/>
              <a:lumOff val="80000"/>
              <a:alpha val="70000"/>
            </a:schemeClr>
          </a:solidFill>
          <a:ln w="12700" cap="rnd" cmpd="sng" algn="ctr">
            <a:noFill/>
            <a:prstDash val="dash"/>
            <a:round/>
          </a:ln>
          <a:effectLst>
            <a:softEdge rad="63500"/>
          </a:effectLst>
        </p:spPr>
        <p:txBody>
          <a:bodyPr rtlCol="0" anchor="t"/>
          <a:lstStyle/>
          <a:p>
            <a:r>
              <a:rPr lang="en-AU" sz="1200" kern="0" dirty="0"/>
              <a:t>Leaf | Consume		</a:t>
            </a:r>
            <a:r>
              <a:rPr lang="en-US" sz="1200" kern="0" dirty="0"/>
              <a:t> Consumption Dataset [CDS]: Use‑case‑specific analytics data</a:t>
            </a:r>
            <a:endParaRPr lang="en-AU" sz="1200" kern="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7453F51-E5A0-7341-80EB-CCAC0E20DBF4}"/>
              </a:ext>
            </a:extLst>
          </p:cNvPr>
          <p:cNvSpPr/>
          <p:nvPr/>
        </p:nvSpPr>
        <p:spPr>
          <a:xfrm>
            <a:off x="11367904" y="1217803"/>
            <a:ext cx="504000" cy="6423441"/>
          </a:xfrm>
          <a:prstGeom prst="roundRect">
            <a:avLst>
              <a:gd name="adj" fmla="val 28926"/>
            </a:avLst>
          </a:prstGeom>
          <a:solidFill>
            <a:schemeClr val="tx2">
              <a:lumMod val="10000"/>
              <a:lumOff val="90000"/>
            </a:schemeClr>
          </a:solidFill>
          <a:ln w="19050" cap="rnd" cmpd="sng" algn="ctr">
            <a:noFill/>
            <a:prstDash val="solid"/>
            <a:round/>
          </a:ln>
          <a:effectLst>
            <a:softEdge rad="38100"/>
          </a:effectLst>
        </p:spPr>
        <p:txBody>
          <a:bodyPr vert="vert270" rtlCol="0" anchor="ctr"/>
          <a:lstStyle/>
          <a:p>
            <a:pPr algn="ctr"/>
            <a:r>
              <a:rPr lang="en-AU" sz="1200" kern="0" dirty="0"/>
              <a:t>Utility</a:t>
            </a:r>
          </a:p>
        </p:txBody>
      </p:sp>
      <p:sp>
        <p:nvSpPr>
          <p:cNvPr id="70" name="Trapezoid 69">
            <a:extLst>
              <a:ext uri="{FF2B5EF4-FFF2-40B4-BE49-F238E27FC236}">
                <a16:creationId xmlns:a16="http://schemas.microsoft.com/office/drawing/2014/main" id="{F35926A3-AE17-06E2-90F6-44D9D9FF3F62}"/>
              </a:ext>
            </a:extLst>
          </p:cNvPr>
          <p:cNvSpPr>
            <a:spLocks noChangeAspect="1"/>
          </p:cNvSpPr>
          <p:nvPr/>
        </p:nvSpPr>
        <p:spPr>
          <a:xfrm>
            <a:off x="7584626" y="8460282"/>
            <a:ext cx="540000" cy="540000"/>
          </a:xfrm>
          <a:prstGeom prst="trapezoid">
            <a:avLst/>
          </a:prstGeom>
          <a:solidFill>
            <a:sysClr val="window" lastClr="FFFFFF">
              <a:lumMod val="85000"/>
            </a:sysClr>
          </a:solidFill>
          <a:ln w="19050" cap="rnd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prstClr val="black"/>
                </a:solidFill>
              </a:rPr>
              <a:t>L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21F1FB3-1C3D-3A9E-A17A-E0C57F18DEA6}"/>
              </a:ext>
            </a:extLst>
          </p:cNvPr>
          <p:cNvSpPr/>
          <p:nvPr/>
        </p:nvSpPr>
        <p:spPr>
          <a:xfrm>
            <a:off x="8287500" y="8370282"/>
            <a:ext cx="3600000" cy="720000"/>
          </a:xfrm>
          <a:prstGeom prst="roundRect">
            <a:avLst>
              <a:gd name="adj" fmla="val 11448"/>
            </a:avLst>
          </a:prstGeom>
          <a:solidFill>
            <a:sysClr val="window" lastClr="FFFFFF">
              <a:lumMod val="85000"/>
            </a:sysClr>
          </a:solidFill>
          <a:ln w="19050" cap="rnd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txBody>
          <a:bodyPr rtlCol="0" anchor="ctr"/>
          <a:lstStyle/>
          <a:p>
            <a:r>
              <a:rPr lang="en-AU" sz="1200" kern="0" dirty="0"/>
              <a:t>Raw Data Objects</a:t>
            </a:r>
          </a:p>
          <a:p>
            <a:r>
              <a:rPr lang="en-AU" sz="1200" kern="0" dirty="0"/>
              <a:t>Original Structure, </a:t>
            </a:r>
          </a:p>
          <a:p>
            <a:r>
              <a:rPr lang="en-AU" sz="1200" kern="0" dirty="0"/>
              <a:t>Columns and Data Type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54DCC63-EBCF-2C63-CC78-1DE06D3E272B}"/>
              </a:ext>
            </a:extLst>
          </p:cNvPr>
          <p:cNvGrpSpPr/>
          <p:nvPr/>
        </p:nvGrpSpPr>
        <p:grpSpPr>
          <a:xfrm>
            <a:off x="10335718" y="8460282"/>
            <a:ext cx="1653965" cy="540000"/>
            <a:chOff x="417281" y="5740996"/>
            <a:chExt cx="1653965" cy="54000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3E99A32-9C86-9136-20CB-C728303EF537}"/>
                </a:ext>
              </a:extLst>
            </p:cNvPr>
            <p:cNvSpPr txBox="1"/>
            <p:nvPr/>
          </p:nvSpPr>
          <p:spPr>
            <a:xfrm>
              <a:off x="667246" y="5740996"/>
              <a:ext cx="1404000" cy="5400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en-AU" sz="1200" kern="0" dirty="0"/>
                <a:t>Ingestion Pattern</a:t>
              </a:r>
            </a:p>
            <a:p>
              <a:r>
                <a:rPr lang="en-AU" sz="1200" kern="0" dirty="0"/>
                <a:t>1.Full or 2.Partial</a:t>
              </a:r>
            </a:p>
          </p:txBody>
        </p:sp>
        <p:sp>
          <p:nvSpPr>
            <p:cNvPr id="74" name="Arrow: Up 73">
              <a:extLst>
                <a:ext uri="{FF2B5EF4-FFF2-40B4-BE49-F238E27FC236}">
                  <a16:creationId xmlns:a16="http://schemas.microsoft.com/office/drawing/2014/main" id="{BD6BB61C-0E5E-FC12-910B-3AAD946FD796}"/>
                </a:ext>
              </a:extLst>
            </p:cNvPr>
            <p:cNvSpPr/>
            <p:nvPr/>
          </p:nvSpPr>
          <p:spPr>
            <a:xfrm>
              <a:off x="417281" y="5740996"/>
              <a:ext cx="216000" cy="360000"/>
            </a:xfrm>
            <a:prstGeom prst="up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 defTabSz="914400"/>
              <a:endParaRPr lang="en-AU" sz="2000" kern="0">
                <a:solidFill>
                  <a:prstClr val="black"/>
                </a:solidFill>
              </a:endParaRPr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73187F9E-A166-3F16-C2A9-B59F3808953A}"/>
              </a:ext>
            </a:extLst>
          </p:cNvPr>
          <p:cNvSpPr/>
          <p:nvPr/>
        </p:nvSpPr>
        <p:spPr>
          <a:xfrm>
            <a:off x="8287500" y="6746111"/>
            <a:ext cx="2700000" cy="7200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 w="1905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AU" sz="1200" kern="0" dirty="0">
                <a:solidFill>
                  <a:prstClr val="black"/>
                </a:solidFill>
              </a:rPr>
              <a:t>Harmonized Views</a:t>
            </a:r>
          </a:p>
          <a:p>
            <a:r>
              <a:rPr lang="en-AU" sz="1200" kern="0" dirty="0">
                <a:solidFill>
                  <a:prstClr val="black"/>
                </a:solidFill>
              </a:rPr>
              <a:t>Re-structured Entities, De-code, Denormalized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3ECCE787-3E4D-56EC-006F-597FA3FCB192}"/>
              </a:ext>
            </a:extLst>
          </p:cNvPr>
          <p:cNvSpPr>
            <a:spLocks noChangeAspect="1"/>
          </p:cNvSpPr>
          <p:nvPr/>
        </p:nvSpPr>
        <p:spPr>
          <a:xfrm>
            <a:off x="2421103" y="6851282"/>
            <a:ext cx="540000" cy="540000"/>
          </a:xfrm>
          <a:prstGeom prst="roundRect">
            <a:avLst>
              <a:gd name="adj" fmla="val 10584"/>
            </a:avLst>
          </a:prstGeom>
          <a:solidFill>
            <a:schemeClr val="accent4">
              <a:lumMod val="40000"/>
              <a:lumOff val="60000"/>
            </a:schemeClr>
          </a:solidFill>
          <a:ln w="1905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r>
              <a:rPr lang="en-US" kern="0" dirty="0"/>
              <a:t>H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EFC4878-7B18-C701-7A30-C6AD9B2B2AA2}"/>
              </a:ext>
            </a:extLst>
          </p:cNvPr>
          <p:cNvSpPr/>
          <p:nvPr/>
        </p:nvSpPr>
        <p:spPr>
          <a:xfrm>
            <a:off x="3112902" y="6761282"/>
            <a:ext cx="3600000" cy="720000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1905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r>
              <a:rPr lang="en-AU" sz="1200" kern="0" dirty="0">
                <a:solidFill>
                  <a:prstClr val="black"/>
                </a:solidFill>
              </a:rPr>
              <a:t>Harmonized Entities</a:t>
            </a:r>
          </a:p>
          <a:p>
            <a:r>
              <a:rPr lang="en-AU" sz="1200" kern="0" dirty="0">
                <a:solidFill>
                  <a:prstClr val="black"/>
                </a:solidFill>
              </a:rPr>
              <a:t>Standardized and Unified</a:t>
            </a:r>
          </a:p>
          <a:p>
            <a:r>
              <a:rPr lang="en-AU" sz="1200" kern="0" dirty="0">
                <a:solidFill>
                  <a:prstClr val="black"/>
                </a:solidFill>
              </a:rPr>
              <a:t>Application, Entity, Attribute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46867CB-BA27-93B0-9904-C47C14E263B1}"/>
              </a:ext>
            </a:extLst>
          </p:cNvPr>
          <p:cNvGrpSpPr/>
          <p:nvPr/>
        </p:nvGrpSpPr>
        <p:grpSpPr>
          <a:xfrm>
            <a:off x="5303139" y="6798116"/>
            <a:ext cx="1386146" cy="646331"/>
            <a:chOff x="5441928" y="6921227"/>
            <a:chExt cx="1386146" cy="64633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FF31817-84CE-5760-E51C-0E40F4C1AE7F}"/>
                </a:ext>
              </a:extLst>
            </p:cNvPr>
            <p:cNvSpPr txBox="1"/>
            <p:nvPr/>
          </p:nvSpPr>
          <p:spPr>
            <a:xfrm>
              <a:off x="5568074" y="6921227"/>
              <a:ext cx="1260000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>
              <a:spAutoFit/>
            </a:bodyPr>
            <a:lstStyle>
              <a:defPPr>
                <a:defRPr lang="en-US"/>
              </a:defPPr>
              <a:lvl1pPr>
                <a:defRPr sz="1000" kern="0">
                  <a:latin typeface="Aptos Light" panose="020B0004020202020204" pitchFamily="34" charset="0"/>
                </a:defRPr>
              </a:lvl1pPr>
            </a:lstStyle>
            <a:p>
              <a:r>
                <a:rPr lang="en-AU" sz="1200" dirty="0">
                  <a:latin typeface="+mn-lt"/>
                </a:rPr>
                <a:t>Storage Pattern</a:t>
              </a:r>
            </a:p>
            <a:p>
              <a:r>
                <a:rPr lang="en-AU" sz="1200" dirty="0">
                  <a:latin typeface="+mn-lt"/>
                </a:rPr>
                <a:t>1.Full or </a:t>
              </a:r>
            </a:p>
            <a:p>
              <a:r>
                <a:rPr lang="en-AU" sz="1200" dirty="0">
                  <a:latin typeface="+mn-lt"/>
                </a:rPr>
                <a:t>3.Snapshot</a:t>
              </a:r>
            </a:p>
          </p:txBody>
        </p:sp>
        <p:sp>
          <p:nvSpPr>
            <p:cNvPr id="82" name="Arrow: Up 81">
              <a:extLst>
                <a:ext uri="{FF2B5EF4-FFF2-40B4-BE49-F238E27FC236}">
                  <a16:creationId xmlns:a16="http://schemas.microsoft.com/office/drawing/2014/main" id="{34064399-44E7-C2A0-FB8C-D79865A92BB8}"/>
                </a:ext>
              </a:extLst>
            </p:cNvPr>
            <p:cNvSpPr/>
            <p:nvPr/>
          </p:nvSpPr>
          <p:spPr>
            <a:xfrm>
              <a:off x="5441928" y="7011227"/>
              <a:ext cx="158109" cy="360000"/>
            </a:xfrm>
            <a:prstGeom prst="upArrow">
              <a:avLst/>
            </a:prstGeom>
            <a:solidFill>
              <a:srgbClr val="FFFFFF"/>
            </a:solidFill>
            <a:ln w="19050" cap="rnd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 defTabSz="914400"/>
              <a:endParaRPr lang="en-AU" sz="2000" kern="0">
                <a:solidFill>
                  <a:prstClr val="black"/>
                </a:solidFill>
              </a:endParaRPr>
            </a:p>
          </p:txBody>
        </p:sp>
      </p:grpSp>
      <p:sp>
        <p:nvSpPr>
          <p:cNvPr id="83" name="Flowchart: Alternate Process 82">
            <a:extLst>
              <a:ext uri="{FF2B5EF4-FFF2-40B4-BE49-F238E27FC236}">
                <a16:creationId xmlns:a16="http://schemas.microsoft.com/office/drawing/2014/main" id="{D71BC227-7BEA-9794-8196-D677C82482AA}"/>
              </a:ext>
            </a:extLst>
          </p:cNvPr>
          <p:cNvSpPr/>
          <p:nvPr/>
        </p:nvSpPr>
        <p:spPr>
          <a:xfrm>
            <a:off x="7584626" y="6851282"/>
            <a:ext cx="540000" cy="540000"/>
          </a:xfrm>
          <a:prstGeom prst="flowChartAlternateProcess">
            <a:avLst/>
          </a:prstGeom>
          <a:solidFill>
            <a:schemeClr val="accent4">
              <a:lumMod val="40000"/>
              <a:lumOff val="60000"/>
            </a:schemeClr>
          </a:solidFill>
          <a:ln w="1905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  <a:r>
              <a:rPr lang="en-AU" kern="0" dirty="0"/>
              <a:t>LV</a:t>
            </a:r>
          </a:p>
        </p:txBody>
      </p:sp>
      <p:sp>
        <p:nvSpPr>
          <p:cNvPr id="87" name="Octagon 86">
            <a:extLst>
              <a:ext uri="{FF2B5EF4-FFF2-40B4-BE49-F238E27FC236}">
                <a16:creationId xmlns:a16="http://schemas.microsoft.com/office/drawing/2014/main" id="{98752AD5-DAA6-0AE3-3AD8-A644CF033CD9}"/>
              </a:ext>
            </a:extLst>
          </p:cNvPr>
          <p:cNvSpPr>
            <a:spLocks noChangeAspect="1"/>
          </p:cNvSpPr>
          <p:nvPr/>
        </p:nvSpPr>
        <p:spPr>
          <a:xfrm>
            <a:off x="2421103" y="5419701"/>
            <a:ext cx="540000" cy="540000"/>
          </a:xfrm>
          <a:prstGeom prst="octagon">
            <a:avLst/>
          </a:prstGeom>
          <a:solidFill>
            <a:schemeClr val="accent4">
              <a:lumMod val="40000"/>
              <a:lumOff val="60000"/>
            </a:schemeClr>
          </a:solidFill>
          <a:ln w="1905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r>
              <a:rPr lang="en-US" kern="0" dirty="0"/>
              <a:t>M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609AAC16-887D-C71B-99AD-AA5B3186F1C1}"/>
              </a:ext>
            </a:extLst>
          </p:cNvPr>
          <p:cNvSpPr/>
          <p:nvPr/>
        </p:nvSpPr>
        <p:spPr>
          <a:xfrm>
            <a:off x="2421103" y="4541065"/>
            <a:ext cx="540000" cy="540000"/>
          </a:xfrm>
          <a:prstGeom prst="roundRect">
            <a:avLst>
              <a:gd name="adj" fmla="val 5643"/>
            </a:avLst>
          </a:prstGeom>
          <a:solidFill>
            <a:schemeClr val="accent4">
              <a:lumMod val="40000"/>
              <a:lumOff val="60000"/>
            </a:schemeClr>
          </a:solidFill>
          <a:ln w="1905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  <a:r>
              <a:rPr lang="en-AU" kern="0" dirty="0"/>
              <a:t>MV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4D4BB13-B91D-9DB9-5D20-2A6436C8E09B}"/>
              </a:ext>
            </a:extLst>
          </p:cNvPr>
          <p:cNvSpPr/>
          <p:nvPr/>
        </p:nvSpPr>
        <p:spPr>
          <a:xfrm>
            <a:off x="3112902" y="5329701"/>
            <a:ext cx="3600000" cy="720000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19050" cap="rnd" cmpd="sng" algn="ctr">
            <a:solidFill>
              <a:schemeClr val="accent4"/>
            </a:solidFill>
            <a:prstDash val="solid"/>
            <a:round/>
          </a:ln>
          <a:effectLst/>
        </p:spPr>
        <p:txBody>
          <a:bodyPr rtlCol="0" anchor="ctr"/>
          <a:lstStyle/>
          <a:p>
            <a:r>
              <a:rPr lang="en-AU" sz="1200" kern="0" dirty="0">
                <a:solidFill>
                  <a:prstClr val="black"/>
                </a:solidFill>
              </a:rPr>
              <a:t>Analytical Entities with Enrichment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Subject, Entity, Attribute, 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Metric and Business Logic</a:t>
            </a:r>
            <a:endParaRPr lang="en-AU" sz="1200" kern="0" dirty="0">
              <a:solidFill>
                <a:prstClr val="black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19BAFFC-3CE5-4CEF-DE99-406409DA0B6D}"/>
              </a:ext>
            </a:extLst>
          </p:cNvPr>
          <p:cNvSpPr/>
          <p:nvPr/>
        </p:nvSpPr>
        <p:spPr>
          <a:xfrm>
            <a:off x="3112902" y="4451065"/>
            <a:ext cx="3600000" cy="720000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19050" cap="rnd" cmpd="sng" algn="ctr">
            <a:solidFill>
              <a:schemeClr val="accent4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AU" sz="1200" kern="0" dirty="0">
                <a:solidFill>
                  <a:prstClr val="black"/>
                </a:solidFill>
              </a:rPr>
              <a:t>Accessible Views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Subject, Entity, Attribute, 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Metric and Reference</a:t>
            </a:r>
            <a:endParaRPr lang="en-AU" sz="1200" kern="0" dirty="0">
              <a:solidFill>
                <a:prstClr val="black"/>
              </a:solidFill>
            </a:endParaRPr>
          </a:p>
        </p:txBody>
      </p:sp>
      <p:sp>
        <p:nvSpPr>
          <p:cNvPr id="93" name="Scroll: Vertical 92">
            <a:extLst>
              <a:ext uri="{FF2B5EF4-FFF2-40B4-BE49-F238E27FC236}">
                <a16:creationId xmlns:a16="http://schemas.microsoft.com/office/drawing/2014/main" id="{891E438D-AD82-9FD5-E97A-1D05EEA9766F}"/>
              </a:ext>
            </a:extLst>
          </p:cNvPr>
          <p:cNvSpPr/>
          <p:nvPr/>
        </p:nvSpPr>
        <p:spPr>
          <a:xfrm>
            <a:off x="7056123" y="5329701"/>
            <a:ext cx="1538884" cy="720000"/>
          </a:xfrm>
          <a:prstGeom prst="verticalScroll">
            <a:avLst/>
          </a:prstGeom>
          <a:solidFill>
            <a:schemeClr val="bg1"/>
          </a:solidFill>
          <a:ln w="19050"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1200" kern="0" dirty="0"/>
              <a:t>Business Logic Implementation</a:t>
            </a:r>
            <a:endParaRPr lang="en-AU" sz="1200" kern="0" dirty="0">
              <a:solidFill>
                <a:schemeClr val="tx1"/>
              </a:solidFill>
            </a:endParaRPr>
          </a:p>
        </p:txBody>
      </p:sp>
      <p:sp>
        <p:nvSpPr>
          <p:cNvPr id="94" name="Heptagon 93">
            <a:extLst>
              <a:ext uri="{FF2B5EF4-FFF2-40B4-BE49-F238E27FC236}">
                <a16:creationId xmlns:a16="http://schemas.microsoft.com/office/drawing/2014/main" id="{6CAA04A5-E5BF-B14D-C824-39B3B6300093}"/>
              </a:ext>
            </a:extLst>
          </p:cNvPr>
          <p:cNvSpPr>
            <a:spLocks noChangeAspect="1"/>
          </p:cNvSpPr>
          <p:nvPr/>
        </p:nvSpPr>
        <p:spPr>
          <a:xfrm>
            <a:off x="2421103" y="3099569"/>
            <a:ext cx="540000" cy="540000"/>
          </a:xfrm>
          <a:prstGeom prst="heptagon">
            <a:avLst/>
          </a:prstGeom>
          <a:solidFill>
            <a:schemeClr val="accent6">
              <a:lumMod val="20000"/>
              <a:lumOff val="80000"/>
            </a:schemeClr>
          </a:solidFill>
          <a:ln w="19050" cap="rnd">
            <a:solidFill>
              <a:schemeClr val="accent6">
                <a:lumMod val="75000"/>
              </a:schemeClr>
            </a:solidFill>
            <a:prstDash val="solid"/>
            <a:round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Light" panose="020B0004020202020204" pitchFamily="34" charset="0"/>
              </a:rPr>
              <a:t>R</a:t>
            </a:r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AEB32CD-077E-B7ED-1EFF-E759CF7E93EF}"/>
              </a:ext>
            </a:extLst>
          </p:cNvPr>
          <p:cNvSpPr>
            <a:spLocks noChangeAspect="1"/>
          </p:cNvSpPr>
          <p:nvPr/>
        </p:nvSpPr>
        <p:spPr>
          <a:xfrm>
            <a:off x="2421103" y="1964647"/>
            <a:ext cx="540000" cy="540000"/>
          </a:xfrm>
          <a:custGeom>
            <a:avLst/>
            <a:gdLst>
              <a:gd name="connsiteX0" fmla="*/ 600000 w 600000"/>
              <a:gd name="connsiteY0" fmla="*/ 300000 h 600000"/>
              <a:gd name="connsiteX1" fmla="*/ 300000 w 600000"/>
              <a:gd name="connsiteY1" fmla="*/ 600000 h 600000"/>
              <a:gd name="connsiteX2" fmla="*/ 0 w 600000"/>
              <a:gd name="connsiteY2" fmla="*/ 300000 h 600000"/>
              <a:gd name="connsiteX3" fmla="*/ 300000 w 600000"/>
              <a:gd name="connsiteY3" fmla="*/ 0 h 600000"/>
              <a:gd name="connsiteX4" fmla="*/ 600000 w 600000"/>
              <a:gd name="connsiteY4" fmla="*/ 300000 h 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00" h="600000">
                <a:moveTo>
                  <a:pt x="600000" y="300000"/>
                </a:moveTo>
                <a:cubicBezTo>
                  <a:pt x="600000" y="465685"/>
                  <a:pt x="465685" y="600000"/>
                  <a:pt x="300000" y="600000"/>
                </a:cubicBezTo>
                <a:cubicBezTo>
                  <a:pt x="134315" y="600000"/>
                  <a:pt x="0" y="465685"/>
                  <a:pt x="0" y="300000"/>
                </a:cubicBezTo>
                <a:cubicBezTo>
                  <a:pt x="0" y="134315"/>
                  <a:pt x="134315" y="0"/>
                  <a:pt x="300000" y="0"/>
                </a:cubicBezTo>
                <a:cubicBezTo>
                  <a:pt x="465685" y="0"/>
                  <a:pt x="600000" y="134315"/>
                  <a:pt x="600000" y="300000"/>
                </a:cubicBezTo>
                <a:close/>
              </a:path>
            </a:pathLst>
          </a:custGeom>
          <a:solidFill>
            <a:srgbClr val="FFC9C9"/>
          </a:solidFill>
          <a:ln w="19050" cap="rnd">
            <a:solidFill>
              <a:srgbClr val="C0000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Aptos Light" panose="020B0004020202020204" pitchFamily="34" charset="0"/>
              </a:rPr>
              <a:t>I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370131F-64D7-2E82-CCEB-E4063AF5F08A}"/>
              </a:ext>
            </a:extLst>
          </p:cNvPr>
          <p:cNvSpPr/>
          <p:nvPr/>
        </p:nvSpPr>
        <p:spPr>
          <a:xfrm>
            <a:off x="3112902" y="3010662"/>
            <a:ext cx="3600000" cy="720000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19050" cap="rnd" cmpd="sng" algn="ctr">
            <a:solidFill>
              <a:schemeClr val="accent6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AU" sz="1200" kern="0" dirty="0">
                <a:solidFill>
                  <a:prstClr val="black"/>
                </a:solidFill>
              </a:rPr>
              <a:t>Consumption Artifacts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Models, Reports, Queries, Aggregation, 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Advanced Analytics and AI Knowledge Base</a:t>
            </a:r>
            <a:endParaRPr lang="en-AU" sz="1200" kern="0" dirty="0">
              <a:solidFill>
                <a:prstClr val="black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1ECCEBD-1857-6E0D-5755-AABAC1156660}"/>
              </a:ext>
            </a:extLst>
          </p:cNvPr>
          <p:cNvSpPr/>
          <p:nvPr/>
        </p:nvSpPr>
        <p:spPr>
          <a:xfrm>
            <a:off x="3112902" y="1874647"/>
            <a:ext cx="3600000" cy="720000"/>
          </a:xfrm>
          <a:prstGeom prst="roundRect">
            <a:avLst>
              <a:gd name="adj" fmla="val 9108"/>
            </a:avLst>
          </a:prstGeom>
          <a:solidFill>
            <a:srgbClr val="FFFFFF"/>
          </a:solidFill>
          <a:ln w="19050" cap="rnd" cmpd="sng" algn="ctr">
            <a:solidFill>
              <a:srgbClr val="C00000"/>
            </a:solidFill>
            <a:prstDash val="dash"/>
            <a:round/>
          </a:ln>
          <a:effectLst/>
        </p:spPr>
        <p:txBody>
          <a:bodyPr rtlCol="0" anchor="ctr"/>
          <a:lstStyle/>
          <a:p>
            <a:r>
              <a:rPr lang="en-US" sz="1200" kern="0" dirty="0">
                <a:solidFill>
                  <a:prstClr val="black"/>
                </a:solidFill>
              </a:rPr>
              <a:t>Actionable Insights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KPIs, Targets, Expectations </a:t>
            </a:r>
          </a:p>
          <a:p>
            <a:r>
              <a:rPr lang="en-US" sz="1200" kern="0" dirty="0">
                <a:solidFill>
                  <a:prstClr val="black"/>
                </a:solidFill>
              </a:rPr>
              <a:t>and Indicators</a:t>
            </a:r>
          </a:p>
        </p:txBody>
      </p:sp>
    </p:spTree>
    <p:extLst>
      <p:ext uri="{BB962C8B-B14F-4D97-AF65-F5344CB8AC3E}">
        <p14:creationId xmlns:p14="http://schemas.microsoft.com/office/powerpoint/2010/main" val="30079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F86A-8A02-4019-287D-7663A3EB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B2C13A9-9282-F56C-798E-F6F1140E5C4B}"/>
              </a:ext>
            </a:extLst>
          </p:cNvPr>
          <p:cNvGrpSpPr/>
          <p:nvPr/>
        </p:nvGrpSpPr>
        <p:grpSpPr>
          <a:xfrm>
            <a:off x="709734" y="929706"/>
            <a:ext cx="11382132" cy="8482329"/>
            <a:chOff x="418668" y="929706"/>
            <a:chExt cx="11382132" cy="84823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4D16717-4B82-C321-5717-03D609B3513C}"/>
                </a:ext>
              </a:extLst>
            </p:cNvPr>
            <p:cNvSpPr/>
            <p:nvPr/>
          </p:nvSpPr>
          <p:spPr>
            <a:xfrm>
              <a:off x="1000800" y="929706"/>
              <a:ext cx="10800000" cy="6840000"/>
            </a:xfrm>
            <a:prstGeom prst="rect">
              <a:avLst/>
            </a:prstGeom>
            <a:solidFill>
              <a:schemeClr val="bg1"/>
            </a:solidFill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r>
                <a:rPr lang="en-AU" sz="1200" kern="0" dirty="0">
                  <a:solidFill>
                    <a:schemeClr val="tx1"/>
                  </a:solidFill>
                </a:rPr>
                <a:t>		Core | Crown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3426FA-76D7-81F5-D41B-20FDD3A298B6}"/>
                </a:ext>
              </a:extLst>
            </p:cNvPr>
            <p:cNvSpPr/>
            <p:nvPr/>
          </p:nvSpPr>
          <p:spPr>
            <a:xfrm>
              <a:off x="1000800" y="7972035"/>
              <a:ext cx="10800000" cy="1440000"/>
            </a:xfrm>
            <a:prstGeom prst="rect">
              <a:avLst/>
            </a:prstGeom>
            <a:solidFill>
              <a:schemeClr val="bg1"/>
            </a:solidFill>
            <a:ln w="19050" cap="rnd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r>
                <a:rPr lang="en-AU" sz="1200" kern="0" dirty="0"/>
                <a:t>		Lake | Root			 Original Data Object [ODO]: Raw source data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008E1A7-E5DE-D164-F7B1-E34A9921567E}"/>
                </a:ext>
              </a:extLst>
            </p:cNvPr>
            <p:cNvSpPr/>
            <p:nvPr/>
          </p:nvSpPr>
          <p:spPr>
            <a:xfrm>
              <a:off x="1900800" y="6381244"/>
              <a:ext cx="9000000" cy="126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rnd" cmpd="sng" algn="ctr">
              <a:noFill/>
              <a:prstDash val="dash"/>
              <a:round/>
            </a:ln>
            <a:effectLst>
              <a:softEdge rad="63500"/>
            </a:effectLst>
          </p:spPr>
          <p:txBody>
            <a:bodyPr rtlCol="0" anchor="t"/>
            <a:lstStyle/>
            <a:p>
              <a:r>
                <a:rPr lang="en-AU" sz="1200" kern="0" dirty="0"/>
                <a:t>Stem | Hub			</a:t>
              </a:r>
              <a:r>
                <a:rPr lang="en-US" sz="1200" kern="0" dirty="0"/>
                <a:t> Harmonized Data Entity [HDE]: Standardized business-aligned data</a:t>
              </a:r>
              <a:endParaRPr lang="en-AU" sz="1200" kern="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2471F1D-6B42-E90D-79E5-01B7ED53D14A}"/>
                </a:ext>
              </a:extLst>
            </p:cNvPr>
            <p:cNvSpPr/>
            <p:nvPr/>
          </p:nvSpPr>
          <p:spPr>
            <a:xfrm>
              <a:off x="1900800" y="4036159"/>
              <a:ext cx="9000000" cy="2160000"/>
            </a:xfrm>
            <a:prstGeom prst="roundRect">
              <a:avLst>
                <a:gd name="adj" fmla="val 622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 cap="rnd" cmpd="sng" algn="ctr">
              <a:noFill/>
              <a:prstDash val="dash"/>
              <a:round/>
            </a:ln>
            <a:effectLst>
              <a:softEdge rad="63500"/>
            </a:effectLst>
          </p:spPr>
          <p:txBody>
            <a:bodyPr rtlCol="0" anchor="t"/>
            <a:lstStyle/>
            <a:p>
              <a:r>
                <a:rPr lang="en-AU" sz="1200" kern="0" dirty="0"/>
                <a:t>Branch | Mart			</a:t>
              </a:r>
              <a:r>
                <a:rPr lang="en-US" sz="1200" kern="0" dirty="0"/>
                <a:t> Analytical Data Entity [ADE]: Business‑rule‑enriched data</a:t>
              </a:r>
              <a:endParaRPr lang="en-AU" sz="1200" kern="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1987A62-5141-D1E3-4139-FBFB05841131}"/>
                </a:ext>
              </a:extLst>
            </p:cNvPr>
            <p:cNvSpPr/>
            <p:nvPr/>
          </p:nvSpPr>
          <p:spPr>
            <a:xfrm>
              <a:off x="1900800" y="1217803"/>
              <a:ext cx="9000000" cy="2700000"/>
            </a:xfrm>
            <a:prstGeom prst="roundRect">
              <a:avLst>
                <a:gd name="adj" fmla="val 1368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 cap="rnd" cmpd="sng" algn="ctr">
              <a:noFill/>
              <a:prstDash val="dash"/>
              <a:round/>
            </a:ln>
            <a:effectLst>
              <a:softEdge rad="63500"/>
            </a:effectLst>
          </p:spPr>
          <p:txBody>
            <a:bodyPr rtlCol="0" anchor="t"/>
            <a:lstStyle/>
            <a:p>
              <a:r>
                <a:rPr lang="en-AU" sz="1200" kern="0" dirty="0"/>
                <a:t>Leaf | Consume		</a:t>
              </a:r>
              <a:r>
                <a:rPr lang="en-US" sz="1200" kern="0" dirty="0"/>
                <a:t> Consumption Dataset [CDS]: Use‑case‑specific analytics data</a:t>
              </a:r>
              <a:endParaRPr lang="en-AU" sz="1200" kern="0" dirty="0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13C57604-FAD7-2990-6936-34F2FE2FDAE2}"/>
                </a:ext>
              </a:extLst>
            </p:cNvPr>
            <p:cNvSpPr/>
            <p:nvPr/>
          </p:nvSpPr>
          <p:spPr>
            <a:xfrm>
              <a:off x="2517963" y="8407592"/>
              <a:ext cx="1080000" cy="720000"/>
            </a:xfrm>
            <a:prstGeom prst="rightArrow">
              <a:avLst>
                <a:gd name="adj1" fmla="val 100000"/>
                <a:gd name="adj2" fmla="val 19265"/>
              </a:avLst>
            </a:prstGeom>
            <a:pattFill prst="lgCheck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1.Ingestion</a:t>
              </a:r>
            </a:p>
            <a:p>
              <a:r>
                <a:rPr lang="en-AU" sz="1200" kern="0" dirty="0"/>
                <a:t>Extract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8F5D14F-EF19-8761-BAA8-E4A64B14B6E3}"/>
                </a:ext>
              </a:extLst>
            </p:cNvPr>
            <p:cNvSpPr/>
            <p:nvPr/>
          </p:nvSpPr>
          <p:spPr>
            <a:xfrm>
              <a:off x="3842989" y="8407592"/>
              <a:ext cx="1440000" cy="720000"/>
            </a:xfrm>
            <a:prstGeom prst="roundRect">
              <a:avLst>
                <a:gd name="adj" fmla="val 9047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>
                  <a:solidFill>
                    <a:schemeClr val="tx1"/>
                  </a:solidFill>
                </a:rPr>
                <a:t>Current Dataset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[ERP1].[Object] 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[CRM1].[Object]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84B3D8C-B6EF-49F2-B968-1049811AC9A3}"/>
                </a:ext>
              </a:extLst>
            </p:cNvPr>
            <p:cNvSpPr/>
            <p:nvPr/>
          </p:nvSpPr>
          <p:spPr>
            <a:xfrm>
              <a:off x="6846605" y="8407592"/>
              <a:ext cx="2880000" cy="720000"/>
            </a:xfrm>
            <a:prstGeom prst="roundRect">
              <a:avLst>
                <a:gd name="adj" fmla="val 9047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>
                  <a:solidFill>
                    <a:schemeClr val="tx1"/>
                  </a:solidFill>
                </a:rPr>
                <a:t>Full Dataset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[ERP1].[Object FULL]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[CRM1].[Object]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51E111C-87D7-D796-1B01-BB08E7598BA0}"/>
                </a:ext>
              </a:extLst>
            </p:cNvPr>
            <p:cNvSpPr/>
            <p:nvPr/>
          </p:nvSpPr>
          <p:spPr>
            <a:xfrm>
              <a:off x="9978068" y="8407592"/>
              <a:ext cx="1620000" cy="720000"/>
            </a:xfrm>
            <a:prstGeom prst="roundRect">
              <a:avLst>
                <a:gd name="adj" fmla="val 9047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>
                  <a:solidFill>
                    <a:schemeClr val="tx1"/>
                  </a:solidFill>
                </a:rPr>
                <a:t>Accessible View 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[AAL].[Setting]</a:t>
              </a:r>
            </a:p>
            <a:p>
              <a:endParaRPr lang="en-AU" sz="1200" kern="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559BD33-D87C-47B8-DA6D-3D7630D92499}"/>
                </a:ext>
              </a:extLst>
            </p:cNvPr>
            <p:cNvSpPr/>
            <p:nvPr/>
          </p:nvSpPr>
          <p:spPr>
            <a:xfrm>
              <a:off x="11076838" y="1217803"/>
              <a:ext cx="504000" cy="6423441"/>
            </a:xfrm>
            <a:prstGeom prst="roundRect">
              <a:avLst>
                <a:gd name="adj" fmla="val 28926"/>
              </a:avLst>
            </a:prstGeom>
            <a:solidFill>
              <a:schemeClr val="tx2">
                <a:lumMod val="10000"/>
                <a:lumOff val="90000"/>
              </a:schemeClr>
            </a:solidFill>
            <a:ln w="19050" cap="rnd" cmpd="sng" algn="ctr">
              <a:noFill/>
              <a:prstDash val="solid"/>
              <a:round/>
            </a:ln>
            <a:effectLst>
              <a:softEdge rad="38100"/>
            </a:effectLst>
          </p:spPr>
          <p:txBody>
            <a:bodyPr vert="vert270" rtlCol="0" anchor="ctr"/>
            <a:lstStyle/>
            <a:p>
              <a:pPr algn="ctr"/>
              <a:r>
                <a:rPr lang="en-AU" sz="1200" kern="0" dirty="0"/>
                <a:t>Framework (Artifact: Table, View, Proc, Func)</a:t>
              </a:r>
            </a:p>
            <a:p>
              <a:pPr algn="ctr"/>
              <a:r>
                <a:rPr lang="en-AU" sz="1200" kern="0" dirty="0"/>
                <a:t>Automation: [AUT]. [Artifact]; Service : [SVC].[Artifact]; Utility: [UTL]. [Artifact]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869ABC5-4AF7-AC91-E88C-175278D68A0C}"/>
                </a:ext>
              </a:extLst>
            </p:cNvPr>
            <p:cNvSpPr/>
            <p:nvPr/>
          </p:nvSpPr>
          <p:spPr>
            <a:xfrm>
              <a:off x="6846605" y="6756556"/>
              <a:ext cx="2880000" cy="720000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Viewpoint from Lake</a:t>
              </a:r>
            </a:p>
            <a:p>
              <a:r>
                <a:rPr lang="en-AU" sz="1200" kern="0" dirty="0"/>
                <a:t>[VPL]</a:t>
              </a:r>
              <a:r>
                <a:rPr lang="en-AU" sz="1200" kern="0" dirty="0">
                  <a:solidFill>
                    <a:schemeClr val="tx1"/>
                  </a:solidFill>
                </a:rPr>
                <a:t>.[APP]_[Harmonized]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With Capsule (CX_DE) </a:t>
              </a: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0C725776-768A-C727-6739-1C63E73FF10E}"/>
                </a:ext>
              </a:extLst>
            </p:cNvPr>
            <p:cNvSpPr/>
            <p:nvPr/>
          </p:nvSpPr>
          <p:spPr>
            <a:xfrm>
              <a:off x="418668" y="4079706"/>
              <a:ext cx="1260000" cy="540000"/>
            </a:xfrm>
            <a:prstGeom prst="rightArrow">
              <a:avLst>
                <a:gd name="adj1" fmla="val 100000"/>
                <a:gd name="adj2" fmla="val 25064"/>
              </a:avLst>
            </a:prstGeom>
            <a:pattFill prst="dkHorz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Main Schedule</a:t>
              </a:r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C469781C-B125-BA47-304D-D15310CF95DD}"/>
                </a:ext>
              </a:extLst>
            </p:cNvPr>
            <p:cNvSpPr/>
            <p:nvPr/>
          </p:nvSpPr>
          <p:spPr>
            <a:xfrm>
              <a:off x="5528015" y="8407592"/>
              <a:ext cx="1080000" cy="720000"/>
            </a:xfrm>
            <a:prstGeom prst="rightArrow">
              <a:avLst>
                <a:gd name="adj1" fmla="val 100000"/>
                <a:gd name="adj2" fmla="val 18685"/>
              </a:avLst>
            </a:prstGeom>
            <a:pattFill prst="lgCheck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1.Ingestion</a:t>
              </a:r>
            </a:p>
            <a:p>
              <a:r>
                <a:rPr lang="en-AU" sz="1200" kern="0" dirty="0"/>
                <a:t>Store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6930226-2EAD-FCB9-31EA-66713CDB2822}"/>
                </a:ext>
              </a:extLst>
            </p:cNvPr>
            <p:cNvCxnSpPr>
              <a:cxnSpLocks/>
              <a:stCxn id="40" idx="0"/>
              <a:endCxn id="46" idx="2"/>
            </p:cNvCxnSpPr>
            <p:nvPr/>
          </p:nvCxnSpPr>
          <p:spPr>
            <a:xfrm flipV="1">
              <a:off x="8286605" y="7476556"/>
              <a:ext cx="0" cy="93103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065D55F-3924-54DC-DBD9-AC890849086B}"/>
                </a:ext>
              </a:extLst>
            </p:cNvPr>
            <p:cNvSpPr/>
            <p:nvPr/>
          </p:nvSpPr>
          <p:spPr>
            <a:xfrm>
              <a:off x="2364373" y="6756556"/>
              <a:ext cx="2880000" cy="720000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Hub Storage</a:t>
              </a:r>
            </a:p>
            <a:p>
              <a:r>
                <a:rPr lang="en-AU" sz="1200" kern="0" dirty="0"/>
                <a:t>[HUB]</a:t>
              </a:r>
              <a:r>
                <a:rPr lang="en-AU" sz="1200" kern="0" dirty="0">
                  <a:solidFill>
                    <a:schemeClr val="tx1"/>
                  </a:solidFill>
                </a:rPr>
                <a:t>.[APP]_[Harmonized]</a:t>
              </a:r>
              <a:br>
                <a:rPr lang="en-AU" sz="1200" kern="0" dirty="0">
                  <a:solidFill>
                    <a:schemeClr val="tx1"/>
                  </a:solidFill>
                </a:rPr>
              </a:br>
              <a:r>
                <a:rPr lang="en-AU" sz="1200" kern="0" dirty="0"/>
                <a:t>[HUB]</a:t>
              </a:r>
              <a:r>
                <a:rPr lang="en-AU" sz="1200" kern="0" dirty="0">
                  <a:solidFill>
                    <a:schemeClr val="tx1"/>
                  </a:solidFill>
                </a:rPr>
                <a:t>.[APP]_[Harmonized Snapshot]</a:t>
              </a:r>
            </a:p>
          </p:txBody>
        </p:sp>
        <p:sp>
          <p:nvSpPr>
            <p:cNvPr id="62" name="Arrow: Left 61">
              <a:extLst>
                <a:ext uri="{FF2B5EF4-FFF2-40B4-BE49-F238E27FC236}">
                  <a16:creationId xmlns:a16="http://schemas.microsoft.com/office/drawing/2014/main" id="{D08BBA3A-8446-0D79-C568-1E5A91501D98}"/>
                </a:ext>
              </a:extLst>
            </p:cNvPr>
            <p:cNvSpPr/>
            <p:nvPr/>
          </p:nvSpPr>
          <p:spPr>
            <a:xfrm>
              <a:off x="5505489" y="6756556"/>
              <a:ext cx="1080000" cy="720000"/>
            </a:xfrm>
            <a:prstGeom prst="leftArrow">
              <a:avLst>
                <a:gd name="adj1" fmla="val 100000"/>
                <a:gd name="adj2" fmla="val 18685"/>
              </a:avLst>
            </a:prstGeom>
            <a:pattFill prst="lgCheck">
              <a:fgClr>
                <a:schemeClr val="accent4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2.Load</a:t>
              </a:r>
            </a:p>
            <a:p>
              <a:r>
                <a:rPr lang="en-AU" sz="1200" kern="0" dirty="0"/>
                <a:t>Split-Merge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FBBB6C2A-089A-5598-9C7E-4FE6EF54EE8D}"/>
                </a:ext>
              </a:extLst>
            </p:cNvPr>
            <p:cNvSpPr/>
            <p:nvPr/>
          </p:nvSpPr>
          <p:spPr>
            <a:xfrm>
              <a:off x="3703184" y="5257916"/>
              <a:ext cx="2880000" cy="720000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Mart Storage</a:t>
              </a:r>
            </a:p>
            <a:p>
              <a:r>
                <a:rPr lang="en-AU" sz="1200" kern="0" dirty="0"/>
                <a:t>[MRT]</a:t>
              </a:r>
              <a:r>
                <a:rPr lang="en-AU" sz="1200" kern="0" dirty="0">
                  <a:solidFill>
                    <a:schemeClr val="tx1"/>
                  </a:solidFill>
                </a:rPr>
                <a:t>.[MST]_[Analytical]</a:t>
              </a:r>
              <a:br>
                <a:rPr lang="en-AU" sz="1200" kern="0" dirty="0">
                  <a:solidFill>
                    <a:schemeClr val="tx1"/>
                  </a:solidFill>
                </a:rPr>
              </a:br>
              <a:r>
                <a:rPr lang="en-AU" sz="1200" kern="0" dirty="0"/>
                <a:t>[MRT]</a:t>
              </a:r>
              <a:r>
                <a:rPr lang="en-AU" sz="1200" kern="0" dirty="0">
                  <a:solidFill>
                    <a:schemeClr val="tx1"/>
                  </a:solidFill>
                </a:rPr>
                <a:t>.[Subject]_[Analytical]</a:t>
              </a:r>
            </a:p>
          </p:txBody>
        </p:sp>
        <p:sp>
          <p:nvSpPr>
            <p:cNvPr id="91" name="Scroll: Vertical 90">
              <a:extLst>
                <a:ext uri="{FF2B5EF4-FFF2-40B4-BE49-F238E27FC236}">
                  <a16:creationId xmlns:a16="http://schemas.microsoft.com/office/drawing/2014/main" id="{C22FF826-0A00-B9B9-4004-7E8F813EF339}"/>
                </a:ext>
              </a:extLst>
            </p:cNvPr>
            <p:cNvSpPr/>
            <p:nvPr/>
          </p:nvSpPr>
          <p:spPr>
            <a:xfrm>
              <a:off x="8187721" y="5257916"/>
              <a:ext cx="1538884" cy="720000"/>
            </a:xfrm>
            <a:prstGeom prst="verticalScroll">
              <a:avLst/>
            </a:prstGeom>
            <a:solidFill>
              <a:schemeClr val="bg1"/>
            </a:solidFill>
            <a:ln w="19050">
              <a:prstDash val="soli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Business Logic Implementation</a:t>
              </a:r>
              <a:endParaRPr lang="en-AU" sz="1200" kern="0" dirty="0">
                <a:solidFill>
                  <a:schemeClr val="tx1"/>
                </a:solidFill>
              </a:endParaRPr>
            </a:p>
          </p:txBody>
        </p:sp>
        <p:sp>
          <p:nvSpPr>
            <p:cNvPr id="92" name="Arrow: Right 91">
              <a:extLst>
                <a:ext uri="{FF2B5EF4-FFF2-40B4-BE49-F238E27FC236}">
                  <a16:creationId xmlns:a16="http://schemas.microsoft.com/office/drawing/2014/main" id="{5C76C3CF-8CA9-BE7E-1BCF-B7F558A1C694}"/>
                </a:ext>
              </a:extLst>
            </p:cNvPr>
            <p:cNvSpPr/>
            <p:nvPr/>
          </p:nvSpPr>
          <p:spPr>
            <a:xfrm>
              <a:off x="2360916" y="5258836"/>
              <a:ext cx="1080000" cy="720000"/>
            </a:xfrm>
            <a:prstGeom prst="rightArrow">
              <a:avLst>
                <a:gd name="adj1" fmla="val 100000"/>
                <a:gd name="adj2" fmla="val 16945"/>
              </a:avLst>
            </a:prstGeom>
            <a:pattFill prst="lgCheck">
              <a:fgClr>
                <a:schemeClr val="accent4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3.Refresh</a:t>
              </a:r>
            </a:p>
            <a:p>
              <a:r>
                <a:rPr lang="en-AU" sz="1200" kern="0" dirty="0"/>
                <a:t>Split-Merge</a:t>
              </a:r>
            </a:p>
          </p:txBody>
        </p:sp>
        <p:sp>
          <p:nvSpPr>
            <p:cNvPr id="94" name="Arrow: Left 93">
              <a:extLst>
                <a:ext uri="{FF2B5EF4-FFF2-40B4-BE49-F238E27FC236}">
                  <a16:creationId xmlns:a16="http://schemas.microsoft.com/office/drawing/2014/main" id="{027A5A50-F5D3-0F11-C955-06465B14350A}"/>
                </a:ext>
              </a:extLst>
            </p:cNvPr>
            <p:cNvSpPr/>
            <p:nvPr/>
          </p:nvSpPr>
          <p:spPr>
            <a:xfrm>
              <a:off x="6845452" y="5257916"/>
              <a:ext cx="1080000" cy="720000"/>
            </a:xfrm>
            <a:prstGeom prst="leftArrow">
              <a:avLst>
                <a:gd name="adj1" fmla="val 100000"/>
                <a:gd name="adj2" fmla="val 16945"/>
              </a:avLst>
            </a:prstGeom>
            <a:pattFill prst="lgCheck">
              <a:fgClr>
                <a:schemeClr val="accent4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4.Update</a:t>
              </a:r>
            </a:p>
            <a:p>
              <a:r>
                <a:rPr lang="en-AU" sz="1200" kern="0" dirty="0"/>
                <a:t>Split-Merge</a:t>
              </a:r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37BBECE0-D8F0-454F-D448-0BEE3B8D5D43}"/>
                </a:ext>
              </a:extLst>
            </p:cNvPr>
            <p:cNvSpPr/>
            <p:nvPr/>
          </p:nvSpPr>
          <p:spPr>
            <a:xfrm>
              <a:off x="3728015" y="4396159"/>
              <a:ext cx="2880000" cy="720000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Accessible View</a:t>
              </a:r>
            </a:p>
            <a:p>
              <a:r>
                <a:rPr lang="en-AU" sz="1200" kern="0" dirty="0"/>
                <a:t>[AAM]</a:t>
              </a:r>
              <a:r>
                <a:rPr lang="en-AU" sz="1200" kern="0" dirty="0">
                  <a:solidFill>
                    <a:schemeClr val="tx1"/>
                  </a:solidFill>
                </a:rPr>
                <a:t>.[MST]_[Analytical]</a:t>
              </a:r>
              <a:br>
                <a:rPr lang="en-AU" sz="1200" kern="0" dirty="0">
                  <a:solidFill>
                    <a:schemeClr val="tx1"/>
                  </a:solidFill>
                </a:rPr>
              </a:br>
              <a:r>
                <a:rPr lang="en-AU" sz="1200" kern="0" dirty="0"/>
                <a:t>[AAM]</a:t>
              </a:r>
              <a:r>
                <a:rPr lang="en-AU" sz="1200" kern="0" dirty="0">
                  <a:solidFill>
                    <a:schemeClr val="tx1"/>
                  </a:solidFill>
                </a:rPr>
                <a:t>.[Subject]_[Analytical]</a:t>
              </a:r>
            </a:p>
          </p:txBody>
        </p: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7004D704-93C3-FDBB-0D52-4F372188E0F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545416" y="6366715"/>
              <a:ext cx="704525" cy="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row: Right 101">
              <a:extLst>
                <a:ext uri="{FF2B5EF4-FFF2-40B4-BE49-F238E27FC236}">
                  <a16:creationId xmlns:a16="http://schemas.microsoft.com/office/drawing/2014/main" id="{0C1F12D5-8777-3F48-094D-A46ABA9E8C11}"/>
                </a:ext>
              </a:extLst>
            </p:cNvPr>
            <p:cNvSpPr/>
            <p:nvPr/>
          </p:nvSpPr>
          <p:spPr>
            <a:xfrm>
              <a:off x="418668" y="8103424"/>
              <a:ext cx="1260000" cy="540000"/>
            </a:xfrm>
            <a:prstGeom prst="rightArrow">
              <a:avLst>
                <a:gd name="adj1" fmla="val 100000"/>
                <a:gd name="adj2" fmla="val 25064"/>
              </a:avLst>
            </a:prstGeom>
            <a:pattFill prst="dkHorz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Main Ingestion</a:t>
              </a:r>
            </a:p>
            <a:p>
              <a:r>
                <a:rPr lang="en-AU" sz="1200" kern="0" dirty="0"/>
                <a:t>Schedule</a:t>
              </a:r>
            </a:p>
          </p:txBody>
        </p:sp>
        <p:sp>
          <p:nvSpPr>
            <p:cNvPr id="103" name="Arrow: Right 102">
              <a:extLst>
                <a:ext uri="{FF2B5EF4-FFF2-40B4-BE49-F238E27FC236}">
                  <a16:creationId xmlns:a16="http://schemas.microsoft.com/office/drawing/2014/main" id="{62959D6C-E4D6-53C4-1A95-B38B060BD8F0}"/>
                </a:ext>
              </a:extLst>
            </p:cNvPr>
            <p:cNvSpPr/>
            <p:nvPr/>
          </p:nvSpPr>
          <p:spPr>
            <a:xfrm>
              <a:off x="640800" y="8774813"/>
              <a:ext cx="1260000" cy="540000"/>
            </a:xfrm>
            <a:prstGeom prst="rightArrow">
              <a:avLst>
                <a:gd name="adj1" fmla="val 100000"/>
                <a:gd name="adj2" fmla="val 25064"/>
              </a:avLst>
            </a:prstGeom>
            <a:pattFill prst="dkHorz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9050"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Ingestion Schedule by Zone</a:t>
              </a: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B52EEAE0-C4C4-25F5-587B-51EC70707867}"/>
                </a:ext>
              </a:extLst>
            </p:cNvPr>
            <p:cNvSpPr/>
            <p:nvPr/>
          </p:nvSpPr>
          <p:spPr>
            <a:xfrm>
              <a:off x="2360447" y="2657802"/>
              <a:ext cx="2520000" cy="1079999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Model View</a:t>
              </a:r>
            </a:p>
            <a:p>
              <a:r>
                <a:rPr lang="en-AU" sz="1200" kern="0" dirty="0"/>
                <a:t>[AAC]</a:t>
              </a:r>
              <a:r>
                <a:rPr lang="en-AU" sz="1200" kern="0" dirty="0">
                  <a:solidFill>
                    <a:schemeClr val="tx1"/>
                  </a:solidFill>
                </a:rPr>
                <a:t>.[MST]_[Analytical]</a:t>
              </a:r>
              <a:br>
                <a:rPr lang="en-AU" sz="1200" kern="0" dirty="0">
                  <a:solidFill>
                    <a:schemeClr val="tx1"/>
                  </a:solidFill>
                </a:rPr>
              </a:br>
              <a:r>
                <a:rPr lang="en-AU" sz="1200" kern="0" dirty="0"/>
                <a:t>[AAC]</a:t>
              </a:r>
              <a:r>
                <a:rPr lang="en-AU" sz="1200" kern="0" dirty="0">
                  <a:solidFill>
                    <a:schemeClr val="tx1"/>
                  </a:solidFill>
                </a:rPr>
                <a:t>.[Subject]_[Analytical]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[AAC].[KPI Detail]</a:t>
              </a:r>
              <a:br>
                <a:rPr lang="en-AU" sz="1200" kern="0" dirty="0">
                  <a:solidFill>
                    <a:schemeClr val="tx1"/>
                  </a:solidFill>
                </a:rPr>
              </a:br>
              <a:r>
                <a:rPr lang="en-AU" sz="1200" kern="0" dirty="0">
                  <a:solidFill>
                    <a:schemeClr val="tx1"/>
                  </a:solidFill>
                </a:rPr>
                <a:t>[AAC].[ML Result]</a:t>
              </a: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3BA0327D-2068-C224-905C-BA49042C493F}"/>
                </a:ext>
              </a:extLst>
            </p:cNvPr>
            <p:cNvSpPr/>
            <p:nvPr/>
          </p:nvSpPr>
          <p:spPr>
            <a:xfrm>
              <a:off x="5140800" y="2657803"/>
              <a:ext cx="2520000" cy="1079998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Query Proc</a:t>
              </a:r>
            </a:p>
            <a:p>
              <a:r>
                <a:rPr lang="en-AU" sz="1200" kern="0" dirty="0"/>
                <a:t>[AAC]</a:t>
              </a:r>
              <a:r>
                <a:rPr lang="en-AU" sz="1200" kern="0" dirty="0">
                  <a:solidFill>
                    <a:schemeClr val="tx1"/>
                  </a:solidFill>
                </a:rPr>
                <a:t>.[Subject]_[Query]</a:t>
              </a:r>
            </a:p>
            <a:p>
              <a:r>
                <a:rPr lang="en-AU" sz="1200" kern="0" dirty="0"/>
                <a:t>[AAC]</a:t>
              </a:r>
              <a:r>
                <a:rPr lang="en-AU" sz="1200" kern="0" dirty="0">
                  <a:solidFill>
                    <a:schemeClr val="tx1"/>
                  </a:solidFill>
                </a:rPr>
                <a:t>.[Subject]_[Subscription]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[AAC].[Exchange Feed]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[AAC].[External Customer Feed]</a:t>
              </a: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7EBFD9AE-AF58-282F-1FA3-6608F3E9E02B}"/>
                </a:ext>
              </a:extLst>
            </p:cNvPr>
            <p:cNvSpPr/>
            <p:nvPr/>
          </p:nvSpPr>
          <p:spPr>
            <a:xfrm>
              <a:off x="7921153" y="2657803"/>
              <a:ext cx="2520000" cy="1080000"/>
            </a:xfrm>
            <a:prstGeom prst="roundRect">
              <a:avLst>
                <a:gd name="adj" fmla="val 9708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Performance &amp; Analytics Artifact</a:t>
              </a:r>
            </a:p>
            <a:p>
              <a:r>
                <a:rPr lang="en-AU" sz="1200" kern="0" dirty="0"/>
                <a:t>[PAX]</a:t>
              </a:r>
              <a:r>
                <a:rPr lang="en-AU" sz="1200" kern="0" dirty="0">
                  <a:solidFill>
                    <a:schemeClr val="tx1"/>
                  </a:solidFill>
                </a:rPr>
                <a:t>.[AGG]_[Query]</a:t>
              </a:r>
            </a:p>
            <a:p>
              <a:r>
                <a:rPr lang="en-AU" sz="1200" kern="0" dirty="0"/>
                <a:t>[PAX]</a:t>
              </a:r>
              <a:r>
                <a:rPr lang="en-AU" sz="1200" kern="0" dirty="0">
                  <a:solidFill>
                    <a:schemeClr val="tx1"/>
                  </a:solidFill>
                </a:rPr>
                <a:t>.[KPI]_[Artifact]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[PAX].[ML]_[Experiment]</a:t>
              </a:r>
            </a:p>
            <a:p>
              <a:r>
                <a:rPr lang="en-AU" sz="1200" kern="0" dirty="0">
                  <a:solidFill>
                    <a:schemeClr val="tx1"/>
                  </a:solidFill>
                </a:rPr>
                <a:t>[PAX].[AI]_[Knowledge]</a:t>
              </a:r>
            </a:p>
          </p:txBody>
        </p:sp>
        <p:sp>
          <p:nvSpPr>
            <p:cNvPr id="3" name="Rectangle: Diagonal Corners Snipped 2">
              <a:extLst>
                <a:ext uri="{FF2B5EF4-FFF2-40B4-BE49-F238E27FC236}">
                  <a16:creationId xmlns:a16="http://schemas.microsoft.com/office/drawing/2014/main" id="{213A5445-C81A-5BC6-F2E5-6D14E86080FE}"/>
                </a:ext>
              </a:extLst>
            </p:cNvPr>
            <p:cNvSpPr/>
            <p:nvPr/>
          </p:nvSpPr>
          <p:spPr>
            <a:xfrm>
              <a:off x="5140800" y="1711977"/>
              <a:ext cx="2520000" cy="720000"/>
            </a:xfrm>
            <a:prstGeom prst="snip2Diag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Standard Reports</a:t>
              </a:r>
            </a:p>
            <a:p>
              <a:r>
                <a:rPr lang="en-AU" sz="1200" kern="0" dirty="0"/>
                <a:t>A101 – Paginated Report</a:t>
              </a:r>
            </a:p>
            <a:p>
              <a:r>
                <a:rPr lang="en-AU" sz="1200" kern="0" dirty="0"/>
                <a:t>A201 – Overview &amp; Pivot</a:t>
              </a:r>
            </a:p>
          </p:txBody>
        </p:sp>
        <p:sp>
          <p:nvSpPr>
            <p:cNvPr id="4" name="Rectangle: Diagonal Corners Snipped 3">
              <a:extLst>
                <a:ext uri="{FF2B5EF4-FFF2-40B4-BE49-F238E27FC236}">
                  <a16:creationId xmlns:a16="http://schemas.microsoft.com/office/drawing/2014/main" id="{629544E2-2396-ACC6-248B-B43EFADB1C19}"/>
                </a:ext>
              </a:extLst>
            </p:cNvPr>
            <p:cNvSpPr/>
            <p:nvPr/>
          </p:nvSpPr>
          <p:spPr>
            <a:xfrm>
              <a:off x="2360447" y="1711517"/>
              <a:ext cx="2520000" cy="720000"/>
            </a:xfrm>
            <a:prstGeom prst="snip2Diag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Data Models (Role Level Security)</a:t>
              </a:r>
            </a:p>
            <a:p>
              <a:r>
                <a:rPr lang="en-AU" sz="1200" kern="0" dirty="0"/>
                <a:t>M101 – Business (RLS)</a:t>
              </a:r>
            </a:p>
            <a:p>
              <a:r>
                <a:rPr lang="en-AU" sz="1200" kern="0" dirty="0"/>
                <a:t>M901 - Solution</a:t>
              </a:r>
            </a:p>
          </p:txBody>
        </p:sp>
        <p:sp>
          <p:nvSpPr>
            <p:cNvPr id="5" name="Rectangle: Diagonal Corners Snipped 4">
              <a:extLst>
                <a:ext uri="{FF2B5EF4-FFF2-40B4-BE49-F238E27FC236}">
                  <a16:creationId xmlns:a16="http://schemas.microsoft.com/office/drawing/2014/main" id="{548EF71C-2DFB-A762-4932-ED4973189CCB}"/>
                </a:ext>
              </a:extLst>
            </p:cNvPr>
            <p:cNvSpPr/>
            <p:nvPr/>
          </p:nvSpPr>
          <p:spPr>
            <a:xfrm>
              <a:off x="7921153" y="1711517"/>
              <a:ext cx="2520000" cy="720000"/>
            </a:xfrm>
            <a:prstGeom prst="snip2Diag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AU" sz="1200" kern="0" dirty="0"/>
                <a:t>Advanced Reports</a:t>
              </a:r>
            </a:p>
            <a:p>
              <a:r>
                <a:rPr lang="en-AU" sz="1200" kern="0" dirty="0"/>
                <a:t>X101 – KPI Scorecard</a:t>
              </a:r>
            </a:p>
            <a:p>
              <a:r>
                <a:rPr lang="en-AU" sz="1200" kern="0" dirty="0"/>
                <a:t>X201 – ML Experiment</a:t>
              </a:r>
            </a:p>
            <a:p>
              <a:r>
                <a:rPr lang="en-AU" sz="1200" kern="0" dirty="0"/>
                <a:t>X301 – AI Assistance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F0912A-6975-CA62-7867-E15C98E681A6}"/>
              </a:ext>
            </a:extLst>
          </p:cNvPr>
          <p:cNvSpPr txBox="1"/>
          <p:nvPr/>
        </p:nvSpPr>
        <p:spPr>
          <a:xfrm>
            <a:off x="287430" y="214860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V# Design</a:t>
            </a:r>
          </a:p>
        </p:txBody>
      </p:sp>
    </p:spTree>
    <p:extLst>
      <p:ext uri="{BB962C8B-B14F-4D97-AF65-F5344CB8AC3E}">
        <p14:creationId xmlns:p14="http://schemas.microsoft.com/office/powerpoint/2010/main" val="1777246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41775</TotalTime>
  <Words>1144</Words>
  <Application>Microsoft Office PowerPoint</Application>
  <PresentationFormat>A3 Paper (297x420 mm)</PresentationFormat>
  <Paragraphs>226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Aptos Light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Duan</dc:creator>
  <cp:lastModifiedBy>Vincent Duan</cp:lastModifiedBy>
  <cp:revision>2093</cp:revision>
  <cp:lastPrinted>2025-08-04T05:24:05Z</cp:lastPrinted>
  <dcterms:created xsi:type="dcterms:W3CDTF">2025-05-15T03:55:25Z</dcterms:created>
  <dcterms:modified xsi:type="dcterms:W3CDTF">2026-04-06T04:49:34Z</dcterms:modified>
</cp:coreProperties>
</file>